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e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eg"/><Relationship Id="rId2" Type="http://schemas.openxmlformats.org/officeDocument/2006/relationships/image" Target="../media/image-4-2.jpeg"/><Relationship Id="rId3" Type="http://schemas.openxmlformats.org/officeDocument/2006/relationships/image" Target="../media/image-4-3.jpe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e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e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sv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0D1A"/>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507987" y="507987"/>
            <a:ext cx="203195" cy="203195"/>
          </a:xfrm>
          <a:prstGeom prst="rect">
            <a:avLst/>
          </a:prstGeom>
        </p:spPr>
      </p:pic>
      <p:pic>
        <p:nvPicPr>
          <p:cNvPr id="3" name="Image 1" descr="preencoded.png">    </p:cNvPr>
          <p:cNvPicPr>
            <a:picLocks noChangeAspect="1"/>
          </p:cNvPicPr>
          <p:nvPr/>
        </p:nvPicPr>
        <p:blipFill>
          <a:blip r:embed="rId2"/>
          <a:srcRect l="0" r="0" t="0" b="0"/>
          <a:stretch/>
        </p:blipFill>
        <p:spPr>
          <a:xfrm>
            <a:off x="2031949" y="1015975"/>
            <a:ext cx="7112051" cy="50799"/>
          </a:xfrm>
          <a:prstGeom prst="rect">
            <a:avLst/>
          </a:prstGeom>
        </p:spPr>
      </p:pic>
      <p:sp>
        <p:nvSpPr>
          <p:cNvPr id="4" name="Text 0"/>
          <p:cNvSpPr/>
          <p:nvPr/>
        </p:nvSpPr>
        <p:spPr>
          <a:xfrm>
            <a:off x="761981" y="1645879"/>
            <a:ext cx="11383994" cy="2501837"/>
          </a:xfrm>
          <a:prstGeom prst="rect">
            <a:avLst/>
          </a:prstGeom>
          <a:noFill/>
          <a:ln/>
        </p:spPr>
        <p:txBody>
          <a:bodyPr wrap="square" lIns="0" tIns="0" rIns="0" bIns="0" rtlCol="0" anchor="t"/>
          <a:lstStyle/>
          <a:p>
            <a:pPr algn="ctr" indent="0" marL="0">
              <a:lnSpc>
                <a:spcPct val="130000"/>
              </a:lnSpc>
              <a:buNone/>
            </a:pPr>
            <a:r>
              <a:rPr lang="en-US" sz="4000" dirty="0">
                <a:solidFill>
                  <a:srgbClr val="00FFFF"/>
                </a:solidFill>
                <a:latin typeface="Calibri" pitchFamily="34" charset="0"/>
                <a:ea typeface="Calibri" pitchFamily="34" charset="-122"/>
                <a:cs typeface="Calibri" pitchFamily="34" charset="-120"/>
              </a:rPr>
              <a:t>Title
</a:t>
            </a:r>
            <a:pPr algn="ctr" indent="0" marL="0">
              <a:lnSpc>
                <a:spcPct val="130000"/>
              </a:lnSpc>
              <a:buNone/>
            </a:pPr>
            <a:r>
              <a:rPr lang="en-US" sz="4000" b="1" dirty="0">
                <a:solidFill>
                  <a:srgbClr val="00FFFF"/>
                </a:solidFill>
                <a:latin typeface="Calibri" pitchFamily="34" charset="0"/>
                <a:ea typeface="Calibri" pitchFamily="34" charset="-122"/>
                <a:cs typeface="Calibri" pitchFamily="34" charset="-120"/>
              </a:rPr>
              <a:t> Basic Hybrid Electric Vehicle (HEV) Power Flow Design </a:t>
            </a:r>
            <a:pPr algn="ctr" indent="0" marL="0">
              <a:lnSpc>
                <a:spcPct val="130000"/>
              </a:lnSpc>
              <a:buNone/>
            </a:pPr>
            <a:r>
              <a:rPr lang="en-US" sz="4000" dirty="0">
                <a:solidFill>
                  <a:srgbClr val="00FFFF"/>
                </a:solidFill>
                <a:latin typeface="Calibri" pitchFamily="34" charset="0"/>
                <a:ea typeface="Calibri" pitchFamily="34" charset="-122"/>
                <a:cs typeface="Calibri" pitchFamily="34" charset="-120"/>
              </a:rPr>
              <a:t>
</a:t>
            </a:r>
            <a:endParaRPr lang="en-US" sz="4000" dirty="0"/>
          </a:p>
        </p:txBody>
      </p:sp>
      <p:sp>
        <p:nvSpPr>
          <p:cNvPr id="5" name="Text 1"/>
          <p:cNvSpPr/>
          <p:nvPr/>
        </p:nvSpPr>
        <p:spPr>
          <a:xfrm>
            <a:off x="761981" y="4089298"/>
            <a:ext cx="10667733" cy="380990"/>
          </a:xfrm>
          <a:prstGeom prst="rect">
            <a:avLst/>
          </a:prstGeom>
          <a:noFill/>
          <a:ln/>
        </p:spPr>
        <p:txBody>
          <a:bodyPr wrap="square" lIns="0" tIns="0" rIns="0" bIns="0" rtlCol="0" anchor="t"/>
          <a:lstStyle/>
          <a:p>
            <a:pPr algn="ctr" indent="0" marL="0">
              <a:lnSpc>
                <a:spcPct val="130000"/>
              </a:lnSpc>
              <a:buNone/>
            </a:pPr>
            <a:r>
              <a:rPr lang="en-US" sz="1100" dirty="0">
                <a:solidFill>
                  <a:srgbClr val="888888"/>
                </a:solidFill>
                <a:latin typeface="Calibri" pitchFamily="34" charset="0"/>
                <a:ea typeface="Calibri" pitchFamily="34" charset="-122"/>
                <a:cs typeface="Calibri" pitchFamily="34" charset="-120"/>
              </a:rPr>
              <a:t>PRESENTED BY</a:t>
            </a:r>
            <a:pPr algn="ctr" indent="0" marL="0">
              <a:lnSpc>
                <a:spcPct val="130000"/>
              </a:lnSpc>
              <a:buNone/>
            </a:pPr>
            <a:r>
              <a:rPr lang="en-US" sz="1100" dirty="0">
                <a:solidFill>
                  <a:srgbClr val="888888"/>
                </a:solidFill>
                <a:latin typeface="Calibri" pitchFamily="34" charset="0"/>
                <a:ea typeface="Calibri" pitchFamily="34" charset="-122"/>
                <a:cs typeface="Calibri" pitchFamily="34" charset="-120"/>
              </a:rPr>
              <a:t>
</a:t>
            </a:r>
            <a:endParaRPr lang="en-US" sz="1100" dirty="0"/>
          </a:p>
        </p:txBody>
      </p:sp>
      <p:sp>
        <p:nvSpPr>
          <p:cNvPr id="6" name="Text 2"/>
          <p:cNvSpPr/>
          <p:nvPr/>
        </p:nvSpPr>
        <p:spPr>
          <a:xfrm>
            <a:off x="761981" y="4394090"/>
            <a:ext cx="11383994" cy="584185"/>
          </a:xfrm>
          <a:prstGeom prst="rect">
            <a:avLst/>
          </a:prstGeom>
          <a:noFill/>
          <a:ln/>
        </p:spPr>
        <p:txBody>
          <a:bodyPr wrap="square" lIns="0" tIns="0" rIns="0" bIns="0" rtlCol="0" anchor="t"/>
          <a:lstStyle/>
          <a:p>
            <a:pPr algn="ctr" indent="0" marL="0">
              <a:lnSpc>
                <a:spcPct val="130000"/>
              </a:lnSpc>
              <a:buNone/>
            </a:pPr>
            <a:r>
              <a:rPr lang="en-US" sz="2200" dirty="0">
                <a:solidFill>
                  <a:srgbClr val="FFFFFF"/>
                </a:solidFill>
                <a:latin typeface="Calibri" pitchFamily="34" charset="0"/>
                <a:ea typeface="Calibri" pitchFamily="34" charset="-122"/>
                <a:cs typeface="Calibri" pitchFamily="34" charset="-120"/>
              </a:rPr>
              <a:t>Poonam</a:t>
            </a:r>
            <a:pPr algn="ctr" indent="0" marL="0">
              <a:lnSpc>
                <a:spcPct val="130000"/>
              </a:lnSpc>
              <a:buNone/>
            </a:pPr>
            <a:r>
              <a:rPr lang="en-US" sz="2200" dirty="0">
                <a:solidFill>
                  <a:srgbClr val="FFFFFF"/>
                </a:solidFill>
                <a:latin typeface="Calibri" pitchFamily="34" charset="0"/>
                <a:ea typeface="Calibri" pitchFamily="34" charset="-122"/>
                <a:cs typeface="Calibri" pitchFamily="34" charset="-120"/>
              </a:rPr>
              <a:t>
</a:t>
            </a:r>
            <a:endParaRPr lang="en-US" sz="2200" dirty="0"/>
          </a:p>
        </p:txBody>
      </p:sp>
      <p:sp>
        <p:nvSpPr>
          <p:cNvPr id="7" name="Text 3"/>
          <p:cNvSpPr/>
          <p:nvPr/>
        </p:nvSpPr>
        <p:spPr>
          <a:xfrm>
            <a:off x="761981" y="4978276"/>
            <a:ext cx="11383994" cy="1219170"/>
          </a:xfrm>
          <a:prstGeom prst="rect">
            <a:avLst/>
          </a:prstGeom>
          <a:noFill/>
          <a:ln/>
        </p:spPr>
        <p:txBody>
          <a:bodyPr wrap="square" lIns="0" tIns="0" rIns="0" bIns="0" rtlCol="0" anchor="t"/>
          <a:lstStyle/>
          <a:p>
            <a:pPr algn="ctr" indent="0" marL="0">
              <a:lnSpc>
                <a:spcPct val="130000"/>
              </a:lnSpc>
              <a:buNone/>
            </a:pPr>
            <a:r>
              <a:rPr lang="en-US" sz="1800" dirty="0">
                <a:solidFill>
                  <a:srgbClr val="FFD700"/>
                </a:solidFill>
                <a:latin typeface="Calibri" pitchFamily="34" charset="0"/>
                <a:ea typeface="Calibri" pitchFamily="34" charset="-122"/>
                <a:cs typeface="Calibri" pitchFamily="34" charset="-120"/>
              </a:rPr>
              <a:t>NIMS Institute of Engineering &amp; Technology
B.Tech Electrical Engineering
Techn Global Internship Project
</a:t>
            </a:r>
            <a:endParaRPr lang="en-US" sz="1800" dirty="0"/>
          </a:p>
        </p:txBody>
      </p:sp>
      <p:sp>
        <p:nvSpPr>
          <p:cNvPr id="8" name="Text 4"/>
          <p:cNvSpPr/>
          <p:nvPr/>
        </p:nvSpPr>
        <p:spPr>
          <a:xfrm>
            <a:off x="761981" y="5549761"/>
            <a:ext cx="11383994" cy="1003275"/>
          </a:xfrm>
          <a:prstGeom prst="rect">
            <a:avLst/>
          </a:prstGeom>
          <a:noFill/>
          <a:ln/>
        </p:spPr>
        <p:txBody>
          <a:bodyPr wrap="square" lIns="0" tIns="0" rIns="0" bIns="0" rtlCol="0" anchor="t"/>
          <a:lstStyle/>
          <a:p>
            <a:pPr algn="ctr" indent="0" marL="0">
              <a:lnSpc>
                <a:spcPct val="130000"/>
              </a:lnSpc>
              <a:buNone/>
            </a:pPr>
            <a:r>
              <a:rPr lang="en-US" sz="1400" dirty="0">
                <a:solidFill>
                  <a:srgbClr val="B0B0B0"/>
                </a:solidFill>
                <a:latin typeface="Calibri" pitchFamily="34" charset="0"/>
                <a:ea typeface="Calibri" pitchFamily="34" charset="-122"/>
                <a:cs typeface="Calibri" pitchFamily="34" charset="-120"/>
              </a:rPr>
              <a:t>
</a:t>
            </a:r>
            <a:pPr algn="ctr" indent="0" marL="0">
              <a:lnSpc>
                <a:spcPct val="130000"/>
              </a:lnSpc>
              <a:buNone/>
            </a:pPr>
            <a:r>
              <a:rPr lang="en-US" sz="1400" dirty="0">
                <a:solidFill>
                  <a:srgbClr val="B0B0B0"/>
                </a:solidFill>
                <a:latin typeface="Calibri" pitchFamily="34" charset="0"/>
                <a:ea typeface="Calibri" pitchFamily="34" charset="-122"/>
                <a:cs typeface="Calibri" pitchFamily="34" charset="-120"/>
              </a:rPr>
              <a:t>June 2026</a:t>
            </a:r>
            <a:pPr algn="ctr" indent="0" marL="0">
              <a:lnSpc>
                <a:spcPct val="130000"/>
              </a:lnSpc>
              <a:buNone/>
            </a:pPr>
            <a:r>
              <a:rPr lang="en-US" sz="1400" dirty="0">
                <a:solidFill>
                  <a:srgbClr val="B0B0B0"/>
                </a:solidFill>
                <a:latin typeface="Calibri" pitchFamily="34" charset="0"/>
                <a:ea typeface="Calibri" pitchFamily="34" charset="-122"/>
                <a:cs typeface="Calibri" pitchFamily="34" charset="-120"/>
              </a:rPr>
              <a:t>
</a:t>
            </a:r>
            <a:endParaRPr lang="en-US" sz="1400" dirty="0"/>
          </a:p>
        </p:txBody>
      </p:sp>
      <p:sp>
        <p:nvSpPr>
          <p:cNvPr id="9" name="Text 5"/>
          <p:cNvSpPr/>
          <p:nvPr/>
        </p:nvSpPr>
        <p:spPr>
          <a:xfrm>
            <a:off x="10362895" y="6537960"/>
            <a:ext cx="1691640" cy="256032"/>
          </a:xfrm>
          <a:prstGeom prst="rect">
            <a:avLst/>
          </a:prstGeom>
          <a:solidFill>
            <a:srgbClr val="000000">
              <a:alpha val="45000"/>
            </a:srgbClr>
          </a:solidFill>
          <a:ln/>
        </p:spPr>
        <p:txBody>
          <a:bodyPr wrap="square" rtlCol="0" anchor="ctr"/>
          <a:lstStyle/>
          <a:p>
            <a:pPr algn="ctr" indent="0" marL="0">
              <a:buNone/>
            </a:pPr>
            <a:r>
              <a:rPr lang="en-US" sz="800" dirty="0">
                <a:solidFill>
                  <a:srgbClr val="FFFFFF"/>
                </a:solidFill>
                <a:latin typeface="Calibri" pitchFamily="34" charset="0"/>
                <a:ea typeface="Calibri" pitchFamily="34" charset="-122"/>
                <a:cs typeface="Calibri" pitchFamily="34" charset="-120"/>
              </a:rPr>
              <a:t>Made with SlideMaker.app</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D0D1A"/>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8381790" y="1015975"/>
            <a:ext cx="3301917" cy="4825879"/>
          </a:xfrm>
          <a:prstGeom prst="rect">
            <a:avLst/>
          </a:prstGeom>
        </p:spPr>
      </p:pic>
      <p:sp>
        <p:nvSpPr>
          <p:cNvPr id="3" name="Text 0"/>
          <p:cNvSpPr/>
          <p:nvPr/>
        </p:nvSpPr>
        <p:spPr>
          <a:xfrm>
            <a:off x="761981" y="1269968"/>
            <a:ext cx="7111822" cy="1269968"/>
          </a:xfrm>
          <a:prstGeom prst="rect">
            <a:avLst/>
          </a:prstGeom>
          <a:noFill/>
          <a:ln/>
        </p:spPr>
        <p:txBody>
          <a:bodyPr wrap="square" lIns="0" tIns="0" rIns="0" bIns="0" rtlCol="0" anchor="t"/>
          <a:lstStyle/>
          <a:p>
            <a:pPr algn="l" indent="0" marL="0">
              <a:lnSpc>
                <a:spcPct val="120000"/>
              </a:lnSpc>
              <a:buNone/>
            </a:pPr>
            <a:r>
              <a:rPr lang="en-US" sz="2900" b="1" dirty="0">
                <a:solidFill>
                  <a:srgbClr val="00FFFF"/>
                </a:solidFill>
                <a:latin typeface="Calibri" pitchFamily="34" charset="0"/>
                <a:ea typeface="Calibri" pitchFamily="34" charset="-122"/>
                <a:cs typeface="Calibri" pitchFamily="34" charset="-120"/>
              </a:rPr>
              <a:t>Hybrid Electric Vehicle (HEV) Power Flow Design Using MATLAB/Simulink
</a:t>
            </a:r>
            <a:endParaRPr lang="en-US" sz="2900" dirty="0"/>
          </a:p>
        </p:txBody>
      </p:sp>
      <p:sp>
        <p:nvSpPr>
          <p:cNvPr id="4" name="Text 1"/>
          <p:cNvSpPr/>
          <p:nvPr/>
        </p:nvSpPr>
        <p:spPr>
          <a:xfrm>
            <a:off x="761981" y="2793930"/>
            <a:ext cx="7111822" cy="3301917"/>
          </a:xfrm>
          <a:prstGeom prst="rect">
            <a:avLst/>
          </a:prstGeom>
          <a:noFill/>
          <a:ln/>
        </p:spPr>
        <p:txBody>
          <a:bodyPr wrap="square" lIns="0" tIns="0" rIns="0" bIns="0" rtlCol="0" anchor="t"/>
          <a:lstStyle/>
          <a:p>
            <a:pPr algn="l" indent="0" marL="0">
              <a:lnSpc>
                <a:spcPct val="150000"/>
              </a:lnSpc>
              <a:buNone/>
            </a:pPr>
            <a:r>
              <a:rPr lang="en-US" sz="1300" dirty="0">
                <a:solidFill>
                  <a:srgbClr val="00FFFF"/>
                </a:solidFill>
                <a:latin typeface="Calibri" pitchFamily="34" charset="0"/>
                <a:ea typeface="Calibri" pitchFamily="34" charset="-122"/>
                <a:cs typeface="Calibri" pitchFamily="34" charset="-120"/>
              </a:rPr>
              <a:t>This project explores the design and simulation of a Hybrid Electric Vehicle (HEV) power flow system using MATLAB/Simulink. The focus is on optimizing the interaction between the internal combustion engine and electric motor to enhance efficiency and performance. By analyzing various configurations, we aim to demonstrate the potential of HEVs in reducing fuel consumption and emissions. This work is part of my Techn Global Internship Project at NIMS Institute of Engineering &amp; Technology, scheduled for completion in June 2026.
</a:t>
            </a:r>
            <a:endParaRPr lang="en-US" sz="1300" dirty="0"/>
          </a:p>
        </p:txBody>
      </p:sp>
      <p:sp>
        <p:nvSpPr>
          <p:cNvPr id="5" name="Text 2"/>
          <p:cNvSpPr/>
          <p:nvPr/>
        </p:nvSpPr>
        <p:spPr>
          <a:xfrm>
            <a:off x="10362895" y="6537960"/>
            <a:ext cx="1691640" cy="256032"/>
          </a:xfrm>
          <a:prstGeom prst="rect">
            <a:avLst/>
          </a:prstGeom>
          <a:solidFill>
            <a:srgbClr val="000000">
              <a:alpha val="45000"/>
            </a:srgbClr>
          </a:solidFill>
          <a:ln/>
        </p:spPr>
        <p:txBody>
          <a:bodyPr wrap="square" rtlCol="0" anchor="ctr"/>
          <a:lstStyle/>
          <a:p>
            <a:pPr algn="ctr" indent="0" marL="0">
              <a:buNone/>
            </a:pPr>
            <a:r>
              <a:rPr lang="en-US" sz="800" dirty="0">
                <a:solidFill>
                  <a:srgbClr val="FFFFFF"/>
                </a:solidFill>
                <a:latin typeface="Calibri" pitchFamily="34" charset="0"/>
                <a:ea typeface="Calibri" pitchFamily="34" charset="-122"/>
                <a:cs typeface="Calibri" pitchFamily="34" charset="-120"/>
              </a:rPr>
              <a:t>Made with SlideMaker.app</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0D1A"/>
        </a:solidFill>
      </p:bgPr>
    </p:bg>
    <p:spTree>
      <p:nvGrpSpPr>
        <p:cNvPr id="1" name=""/>
        <p:cNvGrpSpPr/>
        <p:nvPr/>
      </p:nvGrpSpPr>
      <p:grpSpPr>
        <a:xfrm>
          <a:off x="0" y="0"/>
          <a:ext cx="0" cy="0"/>
          <a:chOff x="0" y="0"/>
          <a:chExt cx="0" cy="0"/>
        </a:xfrm>
      </p:grpSpPr>
      <p:sp>
        <p:nvSpPr>
          <p:cNvPr id="2" name="Text 0"/>
          <p:cNvSpPr/>
          <p:nvPr/>
        </p:nvSpPr>
        <p:spPr>
          <a:xfrm>
            <a:off x="761981" y="507987"/>
            <a:ext cx="8140496" cy="533387"/>
          </a:xfrm>
          <a:prstGeom prst="rect">
            <a:avLst/>
          </a:prstGeom>
          <a:noFill/>
          <a:ln/>
        </p:spPr>
        <p:txBody>
          <a:bodyPr wrap="square" lIns="0" tIns="0" rIns="0" bIns="0" rtlCol="0" anchor="t"/>
          <a:lstStyle/>
          <a:p>
            <a:pPr algn="ctr" indent="0" marL="0">
              <a:lnSpc>
                <a:spcPct val="120000"/>
              </a:lnSpc>
              <a:buNone/>
            </a:pPr>
            <a:r>
              <a:rPr lang="en-US" sz="2900" b="1" dirty="0">
                <a:solidFill>
                  <a:srgbClr val="00FFFF"/>
                </a:solidFill>
                <a:latin typeface="Calibri" pitchFamily="34" charset="0"/>
                <a:ea typeface="Calibri" pitchFamily="34" charset="-122"/>
                <a:cs typeface="Calibri" pitchFamily="34" charset="-120"/>
              </a:rPr>
              <a:t>Define Hybrid Vehicle Configuration
</a:t>
            </a:r>
            <a:endParaRPr lang="en-US" sz="2900" dirty="0"/>
          </a:p>
        </p:txBody>
      </p:sp>
      <p:pic>
        <p:nvPicPr>
          <p:cNvPr id="3" name="Image 0" descr="preencoded.png">    </p:cNvPr>
          <p:cNvPicPr>
            <a:picLocks noChangeAspect="1"/>
          </p:cNvPicPr>
          <p:nvPr/>
        </p:nvPicPr>
        <p:blipFill>
          <a:blip r:embed="rId1"/>
          <a:srcRect l="0" r="0" t="0" b="0"/>
          <a:stretch/>
        </p:blipFill>
        <p:spPr>
          <a:xfrm>
            <a:off x="8775481" y="0"/>
            <a:ext cx="3370495" cy="6812280"/>
          </a:xfrm>
          <a:prstGeom prst="rect">
            <a:avLst/>
          </a:prstGeom>
        </p:spPr>
      </p:pic>
      <p:sp>
        <p:nvSpPr>
          <p:cNvPr id="4" name="Shape 1"/>
          <p:cNvSpPr/>
          <p:nvPr/>
        </p:nvSpPr>
        <p:spPr>
          <a:xfrm>
            <a:off x="380990" y="1473163"/>
            <a:ext cx="3962301" cy="2438339"/>
          </a:xfrm>
          <a:prstGeom prst="rect">
            <a:avLst/>
          </a:prstGeom>
          <a:noFill/>
          <a:ln/>
        </p:spPr>
      </p:sp>
      <p:sp>
        <p:nvSpPr>
          <p:cNvPr id="5" name="Text 2"/>
          <p:cNvSpPr/>
          <p:nvPr/>
        </p:nvSpPr>
        <p:spPr>
          <a:xfrm>
            <a:off x="634984" y="1701757"/>
            <a:ext cx="3454314" cy="380990"/>
          </a:xfrm>
          <a:prstGeom prst="rect">
            <a:avLst/>
          </a:prstGeom>
          <a:noFill/>
          <a:ln/>
        </p:spPr>
        <p:txBody>
          <a:bodyPr wrap="square" lIns="0" tIns="0" rIns="0" bIns="0" rtlCol="0" anchor="t"/>
          <a:lstStyle/>
          <a:p>
            <a:pPr algn="l" indent="0" marL="0">
              <a:lnSpc>
                <a:spcPct val="130000"/>
              </a:lnSpc>
              <a:buNone/>
            </a:pPr>
            <a:r>
              <a:rPr lang="en-US" sz="1300" b="1" dirty="0">
                <a:solidFill>
                  <a:srgbClr val="FFD700"/>
                </a:solidFill>
                <a:latin typeface="Calibri" pitchFamily="34" charset="0"/>
                <a:ea typeface="Calibri" pitchFamily="34" charset="-122"/>
                <a:cs typeface="Calibri" pitchFamily="34" charset="-120"/>
              </a:rPr>
              <a:t>Selected Configuration: Parallel HEV
</a:t>
            </a:r>
            <a:endParaRPr lang="en-US" sz="1300" dirty="0"/>
          </a:p>
        </p:txBody>
      </p:sp>
      <p:sp>
        <p:nvSpPr>
          <p:cNvPr id="6" name="Text 3"/>
          <p:cNvSpPr/>
          <p:nvPr/>
        </p:nvSpPr>
        <p:spPr>
          <a:xfrm>
            <a:off x="634984" y="2108147"/>
            <a:ext cx="3454314" cy="1574761"/>
          </a:xfrm>
          <a:prstGeom prst="rect">
            <a:avLst/>
          </a:prstGeom>
          <a:noFill/>
          <a:ln/>
        </p:spPr>
        <p:txBody>
          <a:bodyPr wrap="square" lIns="0" tIns="0" rIns="0" bIns="0" rtlCol="0" anchor="t"/>
          <a:lstStyle/>
          <a:p>
            <a:pPr algn="l" indent="0" marL="0">
              <a:lnSpc>
                <a:spcPct val="130000"/>
              </a:lnSpc>
              <a:buNone/>
            </a:pPr>
            <a:r>
              <a:rPr lang="en-US" sz="1300" dirty="0">
                <a:solidFill>
                  <a:srgbClr val="E0E0E0"/>
                </a:solidFill>
                <a:latin typeface="Calibri" pitchFamily="34" charset="0"/>
                <a:ea typeface="Calibri" pitchFamily="34" charset="-122"/>
                <a:cs typeface="Calibri" pitchFamily="34" charset="-120"/>
              </a:rPr>
              <a:t>The parallel HEV configuration allows both the internal combustion engine and electric motor to work simultaneously, enhancing overall vehicle efficiency and performance.
</a:t>
            </a:r>
            <a:endParaRPr lang="en-US" sz="1300" dirty="0"/>
          </a:p>
        </p:txBody>
      </p:sp>
      <p:sp>
        <p:nvSpPr>
          <p:cNvPr id="7" name="Shape 4"/>
          <p:cNvSpPr/>
          <p:nvPr/>
        </p:nvSpPr>
        <p:spPr>
          <a:xfrm>
            <a:off x="4546486" y="1473163"/>
            <a:ext cx="3962301" cy="2133547"/>
          </a:xfrm>
          <a:prstGeom prst="rect">
            <a:avLst/>
          </a:prstGeom>
          <a:noFill/>
          <a:ln/>
        </p:spPr>
      </p:sp>
      <p:sp>
        <p:nvSpPr>
          <p:cNvPr id="8" name="Text 5"/>
          <p:cNvSpPr/>
          <p:nvPr/>
        </p:nvSpPr>
        <p:spPr>
          <a:xfrm>
            <a:off x="4800480" y="1701757"/>
            <a:ext cx="3454314" cy="380990"/>
          </a:xfrm>
          <a:prstGeom prst="rect">
            <a:avLst/>
          </a:prstGeom>
          <a:noFill/>
          <a:ln/>
        </p:spPr>
        <p:txBody>
          <a:bodyPr wrap="square" lIns="0" tIns="0" rIns="0" bIns="0" rtlCol="0" anchor="t"/>
          <a:lstStyle/>
          <a:p>
            <a:pPr algn="l" indent="0" marL="0">
              <a:lnSpc>
                <a:spcPct val="130000"/>
              </a:lnSpc>
              <a:buNone/>
            </a:pPr>
            <a:r>
              <a:rPr lang="en-US" sz="1300" b="1" dirty="0">
                <a:solidFill>
                  <a:srgbClr val="FFD700"/>
                </a:solidFill>
                <a:latin typeface="Calibri" pitchFamily="34" charset="0"/>
                <a:ea typeface="Calibri" pitchFamily="34" charset="-122"/>
                <a:cs typeface="Calibri" pitchFamily="34" charset="-120"/>
              </a:rPr>
              <a:t>Engine and Motor Synergy
</a:t>
            </a:r>
            <a:endParaRPr lang="en-US" sz="1300" dirty="0"/>
          </a:p>
        </p:txBody>
      </p:sp>
      <p:sp>
        <p:nvSpPr>
          <p:cNvPr id="9" name="Text 6"/>
          <p:cNvSpPr/>
          <p:nvPr/>
        </p:nvSpPr>
        <p:spPr>
          <a:xfrm>
            <a:off x="4800480" y="2108147"/>
            <a:ext cx="3454314" cy="1269968"/>
          </a:xfrm>
          <a:prstGeom prst="rect">
            <a:avLst/>
          </a:prstGeom>
          <a:noFill/>
          <a:ln/>
        </p:spPr>
        <p:txBody>
          <a:bodyPr wrap="square" lIns="0" tIns="0" rIns="0" bIns="0" rtlCol="0" anchor="t"/>
          <a:lstStyle/>
          <a:p>
            <a:pPr algn="l" indent="0" marL="0">
              <a:lnSpc>
                <a:spcPct val="130000"/>
              </a:lnSpc>
              <a:buNone/>
            </a:pPr>
            <a:r>
              <a:rPr lang="en-US" sz="1300" dirty="0">
                <a:solidFill>
                  <a:srgbClr val="E0E0E0"/>
                </a:solidFill>
                <a:latin typeface="Calibri" pitchFamily="34" charset="0"/>
                <a:ea typeface="Calibri" pitchFamily="34" charset="-122"/>
                <a:cs typeface="Calibri" pitchFamily="34" charset="-120"/>
              </a:rPr>
              <a:t>In this setup, the engine and motor collaborate to optimize power delivery, resulting in improved acceleration and responsiveness under various driving conditions.
</a:t>
            </a:r>
            <a:endParaRPr lang="en-US" sz="1300" dirty="0"/>
          </a:p>
        </p:txBody>
      </p:sp>
      <p:sp>
        <p:nvSpPr>
          <p:cNvPr id="10" name="Shape 7"/>
          <p:cNvSpPr/>
          <p:nvPr/>
        </p:nvSpPr>
        <p:spPr>
          <a:xfrm>
            <a:off x="380990" y="4419490"/>
            <a:ext cx="8140496" cy="724010"/>
          </a:xfrm>
          <a:prstGeom prst="rect">
            <a:avLst/>
          </a:prstGeom>
          <a:noFill/>
          <a:ln/>
        </p:spPr>
      </p:sp>
      <p:sp>
        <p:nvSpPr>
          <p:cNvPr id="11" name="Text 8"/>
          <p:cNvSpPr/>
          <p:nvPr/>
        </p:nvSpPr>
        <p:spPr>
          <a:xfrm>
            <a:off x="634984" y="4648084"/>
            <a:ext cx="7632509" cy="380990"/>
          </a:xfrm>
          <a:prstGeom prst="rect">
            <a:avLst/>
          </a:prstGeom>
          <a:noFill/>
          <a:ln/>
        </p:spPr>
        <p:txBody>
          <a:bodyPr wrap="square" lIns="0" tIns="0" rIns="0" bIns="0" rtlCol="0" anchor="t"/>
          <a:lstStyle/>
          <a:p>
            <a:pPr algn="l" indent="0" marL="0">
              <a:lnSpc>
                <a:spcPct val="130000"/>
              </a:lnSpc>
              <a:buNone/>
            </a:pPr>
            <a:r>
              <a:rPr lang="en-US" sz="1300" b="1" dirty="0">
                <a:solidFill>
                  <a:srgbClr val="FFD700"/>
                </a:solidFill>
                <a:latin typeface="Calibri" pitchFamily="34" charset="0"/>
                <a:ea typeface="Calibri" pitchFamily="34" charset="-122"/>
                <a:cs typeface="Calibri" pitchFamily="34" charset="-120"/>
              </a:rPr>
              <a:t>Key Benefits of Parallel HEV
</a:t>
            </a:r>
            <a:endParaRPr lang="en-US" sz="1300" dirty="0"/>
          </a:p>
        </p:txBody>
      </p:sp>
      <p:sp>
        <p:nvSpPr>
          <p:cNvPr id="12" name="Text 9"/>
          <p:cNvSpPr/>
          <p:nvPr/>
        </p:nvSpPr>
        <p:spPr>
          <a:xfrm>
            <a:off x="634984" y="5054474"/>
            <a:ext cx="7632509" cy="924537"/>
          </a:xfrm>
          <a:prstGeom prst="rect">
            <a:avLst/>
          </a:prstGeom>
          <a:noFill/>
          <a:ln/>
        </p:spPr>
        <p:txBody>
          <a:bodyPr wrap="square" lIns="0" tIns="0" rIns="0" bIns="0" rtlCol="0" anchor="t"/>
          <a:lstStyle/>
          <a:p>
            <a:pPr algn="l" indent="0" marL="0">
              <a:lnSpc>
                <a:spcPct val="130000"/>
              </a:lnSpc>
              <a:buNone/>
            </a:pPr>
            <a:r>
              <a:rPr lang="en-US" sz="1300" dirty="0">
                <a:solidFill>
                  <a:srgbClr val="E0E0E0"/>
                </a:solidFill>
                <a:latin typeface="Calibri" pitchFamily="34" charset="0"/>
                <a:ea typeface="Calibri" pitchFamily="34" charset="-122"/>
                <a:cs typeface="Calibri" pitchFamily="34" charset="-120"/>
              </a:rPr>
              <a:t>This configuration significantly reduces emissions and fuel consumption, making it an environmentally friendly choice while maintaining high performance and reliability.
</a:t>
            </a:r>
            <a:endParaRPr lang="en-US" sz="1300" dirty="0"/>
          </a:p>
        </p:txBody>
      </p:sp>
      <p:sp>
        <p:nvSpPr>
          <p:cNvPr id="13" name="Text 10"/>
          <p:cNvSpPr/>
          <p:nvPr/>
        </p:nvSpPr>
        <p:spPr>
          <a:xfrm>
            <a:off x="10362895" y="6537960"/>
            <a:ext cx="1691640" cy="256032"/>
          </a:xfrm>
          <a:prstGeom prst="rect">
            <a:avLst/>
          </a:prstGeom>
          <a:solidFill>
            <a:srgbClr val="000000">
              <a:alpha val="45000"/>
            </a:srgbClr>
          </a:solidFill>
          <a:ln/>
        </p:spPr>
        <p:txBody>
          <a:bodyPr wrap="square" rtlCol="0" anchor="ctr"/>
          <a:lstStyle/>
          <a:p>
            <a:pPr algn="ctr" indent="0" marL="0">
              <a:buNone/>
            </a:pPr>
            <a:r>
              <a:rPr lang="en-US" sz="800" dirty="0">
                <a:solidFill>
                  <a:srgbClr val="FFFFFF"/>
                </a:solidFill>
                <a:latin typeface="Calibri" pitchFamily="34" charset="0"/>
                <a:ea typeface="Calibri" pitchFamily="34" charset="-122"/>
                <a:cs typeface="Calibri" pitchFamily="34" charset="-120"/>
              </a:rPr>
              <a:t>Made with SlideMaker.app</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D0D1A"/>
        </a:solidFill>
      </p:bgPr>
    </p:bg>
    <p:spTree>
      <p:nvGrpSpPr>
        <p:cNvPr id="1" name=""/>
        <p:cNvGrpSpPr/>
        <p:nvPr/>
      </p:nvGrpSpPr>
      <p:grpSpPr>
        <a:xfrm>
          <a:off x="0" y="0"/>
          <a:ext cx="0" cy="0"/>
          <a:chOff x="0" y="0"/>
          <a:chExt cx="0" cy="0"/>
        </a:xfrm>
      </p:grpSpPr>
      <p:sp>
        <p:nvSpPr>
          <p:cNvPr id="2" name="Text 0"/>
          <p:cNvSpPr/>
          <p:nvPr/>
        </p:nvSpPr>
        <p:spPr>
          <a:xfrm>
            <a:off x="761981" y="507987"/>
            <a:ext cx="10667733" cy="761981"/>
          </a:xfrm>
          <a:prstGeom prst="rect">
            <a:avLst/>
          </a:prstGeom>
          <a:noFill/>
          <a:ln/>
        </p:spPr>
        <p:txBody>
          <a:bodyPr wrap="square" lIns="0" tIns="0" rIns="0" bIns="0" rtlCol="0" anchor="t"/>
          <a:lstStyle/>
          <a:p>
            <a:pPr algn="ctr" indent="0" marL="0">
              <a:lnSpc>
                <a:spcPct val="120000"/>
              </a:lnSpc>
              <a:buNone/>
            </a:pPr>
            <a:r>
              <a:rPr lang="en-US" sz="2900" b="1" dirty="0">
                <a:solidFill>
                  <a:srgbClr val="00FFFF"/>
                </a:solidFill>
                <a:latin typeface="Calibri" pitchFamily="34" charset="0"/>
                <a:ea typeface="Calibri" pitchFamily="34" charset="-122"/>
                <a:cs typeface="Calibri" pitchFamily="34" charset="-120"/>
              </a:rPr>
              <a:t>Identify Power Sources
</a:t>
            </a:r>
            <a:endParaRPr lang="en-US" sz="2900" dirty="0"/>
          </a:p>
        </p:txBody>
      </p:sp>
      <p:sp>
        <p:nvSpPr>
          <p:cNvPr id="3" name="Shape 1"/>
          <p:cNvSpPr/>
          <p:nvPr/>
        </p:nvSpPr>
        <p:spPr>
          <a:xfrm>
            <a:off x="380990" y="1523962"/>
            <a:ext cx="3606710" cy="3619538"/>
          </a:xfrm>
          <a:prstGeom prst="rect">
            <a:avLst/>
          </a:prstGeom>
          <a:noFill/>
          <a:ln/>
        </p:spPr>
      </p:sp>
      <p:pic>
        <p:nvPicPr>
          <p:cNvPr id="4" name="Image 0" descr="preencoded.png">    </p:cNvPr>
          <p:cNvPicPr>
            <a:picLocks noChangeAspect="1"/>
          </p:cNvPicPr>
          <p:nvPr/>
        </p:nvPicPr>
        <p:blipFill>
          <a:blip r:embed="rId1"/>
          <a:srcRect l="0" r="0" t="0" b="0"/>
          <a:stretch/>
        </p:blipFill>
        <p:spPr>
          <a:xfrm>
            <a:off x="380990" y="1523962"/>
            <a:ext cx="3606710" cy="2336742"/>
          </a:xfrm>
          <a:prstGeom prst="rect">
            <a:avLst/>
          </a:prstGeom>
        </p:spPr>
      </p:pic>
      <p:sp>
        <p:nvSpPr>
          <p:cNvPr id="5" name="Text 2"/>
          <p:cNvSpPr/>
          <p:nvPr/>
        </p:nvSpPr>
        <p:spPr>
          <a:xfrm>
            <a:off x="380990" y="4165496"/>
            <a:ext cx="3606710" cy="457189"/>
          </a:xfrm>
          <a:prstGeom prst="rect">
            <a:avLst/>
          </a:prstGeom>
          <a:solidFill>
            <a:srgbClr val="FFFFFF">
              <a:alpha val="0"/>
            </a:srgbClr>
          </a:solidFill>
          <a:ln/>
        </p:spPr>
        <p:txBody>
          <a:bodyPr wrap="square" lIns="0" tIns="0" rIns="0" bIns="0" rtlCol="0" anchor="t"/>
          <a:lstStyle/>
          <a:p>
            <a:pPr algn="l" indent="0" marL="0">
              <a:lnSpc>
                <a:spcPct val="130000"/>
              </a:lnSpc>
              <a:buNone/>
            </a:pPr>
            <a:r>
              <a:rPr lang="en-US" sz="1300" b="1" dirty="0">
                <a:solidFill>
                  <a:srgbClr val="00FFFF"/>
                </a:solidFill>
                <a:latin typeface="Calibri" pitchFamily="34" charset="0"/>
                <a:ea typeface="Calibri" pitchFamily="34" charset="-122"/>
                <a:cs typeface="Calibri" pitchFamily="34" charset="-120"/>
              </a:rPr>
              <a:t>Internal Combustion Engine (ICE)
</a:t>
            </a:r>
            <a:endParaRPr lang="en-US" sz="1300" dirty="0"/>
          </a:p>
        </p:txBody>
      </p:sp>
      <p:sp>
        <p:nvSpPr>
          <p:cNvPr id="6" name="Text 3"/>
          <p:cNvSpPr/>
          <p:nvPr/>
        </p:nvSpPr>
        <p:spPr>
          <a:xfrm>
            <a:off x="380990" y="4825879"/>
            <a:ext cx="3606710" cy="1523962"/>
          </a:xfrm>
          <a:prstGeom prst="rect">
            <a:avLst/>
          </a:prstGeom>
          <a:solidFill>
            <a:srgbClr val="FFFFFF">
              <a:alpha val="0"/>
            </a:srgbClr>
          </a:solidFill>
          <a:ln/>
        </p:spPr>
        <p:txBody>
          <a:bodyPr wrap="square" lIns="0" tIns="0" rIns="0" bIns="0" rtlCol="0" anchor="t"/>
          <a:lstStyle/>
          <a:p>
            <a:pPr algn="l" indent="0" marL="0">
              <a:lnSpc>
                <a:spcPct val="130000"/>
              </a:lnSpc>
              <a:buNone/>
            </a:pPr>
            <a:r>
              <a:rPr lang="en-US" sz="1300" dirty="0">
                <a:solidFill>
                  <a:srgbClr val="E0E0E0"/>
                </a:solidFill>
                <a:latin typeface="Calibri" pitchFamily="34" charset="0"/>
                <a:ea typeface="Calibri" pitchFamily="34" charset="-122"/>
                <a:cs typeface="Calibri" pitchFamily="34" charset="-120"/>
              </a:rPr>
              <a:t>The ICE serves as the primary power source, providing 60 kW of output, crucial for high-speed performance and long-range driving capabilities.
</a:t>
            </a:r>
            <a:endParaRPr lang="en-US" sz="1300" dirty="0"/>
          </a:p>
        </p:txBody>
      </p:sp>
      <p:sp>
        <p:nvSpPr>
          <p:cNvPr id="7" name="Shape 4"/>
          <p:cNvSpPr/>
          <p:nvPr/>
        </p:nvSpPr>
        <p:spPr>
          <a:xfrm>
            <a:off x="4292493" y="1523962"/>
            <a:ext cx="3606710" cy="3619538"/>
          </a:xfrm>
          <a:prstGeom prst="rect">
            <a:avLst/>
          </a:prstGeom>
          <a:noFill/>
          <a:ln/>
        </p:spPr>
      </p:sp>
      <p:pic>
        <p:nvPicPr>
          <p:cNvPr id="8" name="Image 1" descr="preencoded.png">    </p:cNvPr>
          <p:cNvPicPr>
            <a:picLocks noChangeAspect="1"/>
          </p:cNvPicPr>
          <p:nvPr/>
        </p:nvPicPr>
        <p:blipFill>
          <a:blip r:embed="rId2"/>
          <a:srcRect l="0" r="0" t="0" b="0"/>
          <a:stretch/>
        </p:blipFill>
        <p:spPr>
          <a:xfrm>
            <a:off x="4292493" y="1523962"/>
            <a:ext cx="3606710" cy="2336742"/>
          </a:xfrm>
          <a:prstGeom prst="rect">
            <a:avLst/>
          </a:prstGeom>
        </p:spPr>
      </p:pic>
      <p:sp>
        <p:nvSpPr>
          <p:cNvPr id="9" name="Text 5"/>
          <p:cNvSpPr/>
          <p:nvPr/>
        </p:nvSpPr>
        <p:spPr>
          <a:xfrm>
            <a:off x="4292493" y="4165496"/>
            <a:ext cx="3606710" cy="457189"/>
          </a:xfrm>
          <a:prstGeom prst="rect">
            <a:avLst/>
          </a:prstGeom>
          <a:solidFill>
            <a:srgbClr val="FFFFFF">
              <a:alpha val="0"/>
            </a:srgbClr>
          </a:solidFill>
          <a:ln/>
        </p:spPr>
        <p:txBody>
          <a:bodyPr wrap="square" lIns="0" tIns="0" rIns="0" bIns="0" rtlCol="0" anchor="t"/>
          <a:lstStyle/>
          <a:p>
            <a:pPr algn="l" indent="0" marL="0">
              <a:lnSpc>
                <a:spcPct val="130000"/>
              </a:lnSpc>
              <a:buNone/>
            </a:pPr>
            <a:r>
              <a:rPr lang="en-US" sz="1300" b="1" dirty="0">
                <a:solidFill>
                  <a:srgbClr val="00FFFF"/>
                </a:solidFill>
                <a:latin typeface="Calibri" pitchFamily="34" charset="0"/>
                <a:ea typeface="Calibri" pitchFamily="34" charset="-122"/>
                <a:cs typeface="Calibri" pitchFamily="34" charset="-120"/>
              </a:rPr>
              <a:t>Electric Motor
</a:t>
            </a:r>
            <a:endParaRPr lang="en-US" sz="1300" dirty="0"/>
          </a:p>
        </p:txBody>
      </p:sp>
      <p:sp>
        <p:nvSpPr>
          <p:cNvPr id="10" name="Text 6"/>
          <p:cNvSpPr/>
          <p:nvPr/>
        </p:nvSpPr>
        <p:spPr>
          <a:xfrm>
            <a:off x="4292493" y="4825879"/>
            <a:ext cx="3606710" cy="1523962"/>
          </a:xfrm>
          <a:prstGeom prst="rect">
            <a:avLst/>
          </a:prstGeom>
          <a:solidFill>
            <a:srgbClr val="FFFFFF">
              <a:alpha val="0"/>
            </a:srgbClr>
          </a:solidFill>
          <a:ln/>
        </p:spPr>
        <p:txBody>
          <a:bodyPr wrap="square" lIns="0" tIns="0" rIns="0" bIns="0" rtlCol="0" anchor="t"/>
          <a:lstStyle/>
          <a:p>
            <a:pPr algn="l" indent="0" marL="0">
              <a:lnSpc>
                <a:spcPct val="130000"/>
              </a:lnSpc>
              <a:buNone/>
            </a:pPr>
            <a:r>
              <a:rPr lang="en-US" sz="1300" dirty="0">
                <a:solidFill>
                  <a:srgbClr val="E0E0E0"/>
                </a:solidFill>
                <a:latin typeface="Calibri" pitchFamily="34" charset="0"/>
                <a:ea typeface="Calibri" pitchFamily="34" charset="-122"/>
                <a:cs typeface="Calibri" pitchFamily="34" charset="-120"/>
              </a:rPr>
              <a:t>The electric motor contributes 80 kW, enhancing acceleration and enabling regenerative braking, which improves overall vehicle efficiency and reduces emissions.
</a:t>
            </a:r>
            <a:endParaRPr lang="en-US" sz="1300" dirty="0"/>
          </a:p>
        </p:txBody>
      </p:sp>
      <p:sp>
        <p:nvSpPr>
          <p:cNvPr id="11" name="Shape 7"/>
          <p:cNvSpPr/>
          <p:nvPr/>
        </p:nvSpPr>
        <p:spPr>
          <a:xfrm>
            <a:off x="8203995" y="1523962"/>
            <a:ext cx="940005" cy="3619538"/>
          </a:xfrm>
          <a:prstGeom prst="rect">
            <a:avLst/>
          </a:prstGeom>
          <a:noFill/>
          <a:ln/>
        </p:spPr>
      </p:sp>
      <p:pic>
        <p:nvPicPr>
          <p:cNvPr id="12" name="Image 2" descr="preencoded.png">    </p:cNvPr>
          <p:cNvPicPr>
            <a:picLocks noChangeAspect="1"/>
          </p:cNvPicPr>
          <p:nvPr/>
        </p:nvPicPr>
        <p:blipFill>
          <a:blip r:embed="rId3"/>
          <a:srcRect l="0" r="0" t="0" b="0"/>
          <a:stretch/>
        </p:blipFill>
        <p:spPr>
          <a:xfrm>
            <a:off x="8203995" y="1523962"/>
            <a:ext cx="3606710" cy="2336742"/>
          </a:xfrm>
          <a:prstGeom prst="rect">
            <a:avLst/>
          </a:prstGeom>
        </p:spPr>
      </p:pic>
      <p:sp>
        <p:nvSpPr>
          <p:cNvPr id="13" name="Text 8"/>
          <p:cNvSpPr/>
          <p:nvPr/>
        </p:nvSpPr>
        <p:spPr>
          <a:xfrm>
            <a:off x="8203995" y="4165496"/>
            <a:ext cx="3606710" cy="457189"/>
          </a:xfrm>
          <a:prstGeom prst="rect">
            <a:avLst/>
          </a:prstGeom>
          <a:solidFill>
            <a:srgbClr val="FFFFFF">
              <a:alpha val="0"/>
            </a:srgbClr>
          </a:solidFill>
          <a:ln/>
        </p:spPr>
        <p:txBody>
          <a:bodyPr wrap="square" lIns="0" tIns="0" rIns="0" bIns="0" rtlCol="0" anchor="t"/>
          <a:lstStyle/>
          <a:p>
            <a:pPr algn="l" indent="0" marL="0">
              <a:lnSpc>
                <a:spcPct val="130000"/>
              </a:lnSpc>
              <a:buNone/>
            </a:pPr>
            <a:r>
              <a:rPr lang="en-US" sz="1300" b="1" dirty="0">
                <a:solidFill>
                  <a:srgbClr val="00FFFF"/>
                </a:solidFill>
                <a:latin typeface="Calibri" pitchFamily="34" charset="0"/>
                <a:ea typeface="Calibri" pitchFamily="34" charset="-122"/>
                <a:cs typeface="Calibri" pitchFamily="34" charset="-120"/>
              </a:rPr>
              <a:t>Battery Pack
</a:t>
            </a:r>
            <a:endParaRPr lang="en-US" sz="1300" dirty="0"/>
          </a:p>
        </p:txBody>
      </p:sp>
      <p:sp>
        <p:nvSpPr>
          <p:cNvPr id="14" name="Text 9"/>
          <p:cNvSpPr/>
          <p:nvPr/>
        </p:nvSpPr>
        <p:spPr>
          <a:xfrm>
            <a:off x="8203995" y="4825879"/>
            <a:ext cx="3606710" cy="1523962"/>
          </a:xfrm>
          <a:prstGeom prst="rect">
            <a:avLst/>
          </a:prstGeom>
          <a:solidFill>
            <a:srgbClr val="FFFFFF">
              <a:alpha val="0"/>
            </a:srgbClr>
          </a:solidFill>
          <a:ln/>
        </p:spPr>
        <p:txBody>
          <a:bodyPr wrap="square" lIns="0" tIns="0" rIns="0" bIns="0" rtlCol="0" anchor="t"/>
          <a:lstStyle/>
          <a:p>
            <a:pPr algn="l" indent="0" marL="0">
              <a:lnSpc>
                <a:spcPct val="130000"/>
              </a:lnSpc>
              <a:buNone/>
            </a:pPr>
            <a:r>
              <a:rPr lang="en-US" sz="1300" dirty="0">
                <a:solidFill>
                  <a:srgbClr val="E0E0E0"/>
                </a:solidFill>
                <a:latin typeface="Calibri" pitchFamily="34" charset="0"/>
                <a:ea typeface="Calibri" pitchFamily="34" charset="-122"/>
                <a:cs typeface="Calibri" pitchFamily="34" charset="-120"/>
              </a:rPr>
              <a:t>With a capacity of 20 kWh, the battery pack stores energy for the electric motor, ensuring a reliable power supply and supporting hybrid operation.
</a:t>
            </a:r>
            <a:endParaRPr lang="en-US" sz="1300" dirty="0"/>
          </a:p>
        </p:txBody>
      </p:sp>
      <p:sp>
        <p:nvSpPr>
          <p:cNvPr id="15" name="Text 10"/>
          <p:cNvSpPr/>
          <p:nvPr/>
        </p:nvSpPr>
        <p:spPr>
          <a:xfrm>
            <a:off x="10362895" y="6537960"/>
            <a:ext cx="1691640" cy="256032"/>
          </a:xfrm>
          <a:prstGeom prst="rect">
            <a:avLst/>
          </a:prstGeom>
          <a:solidFill>
            <a:srgbClr val="000000">
              <a:alpha val="45000"/>
            </a:srgbClr>
          </a:solidFill>
          <a:ln/>
        </p:spPr>
        <p:txBody>
          <a:bodyPr wrap="square" rtlCol="0" anchor="ctr"/>
          <a:lstStyle/>
          <a:p>
            <a:pPr algn="ctr" indent="0" marL="0">
              <a:buNone/>
            </a:pPr>
            <a:r>
              <a:rPr lang="en-US" sz="800" dirty="0">
                <a:solidFill>
                  <a:srgbClr val="FFFFFF"/>
                </a:solidFill>
                <a:latin typeface="Calibri" pitchFamily="34" charset="0"/>
                <a:ea typeface="Calibri" pitchFamily="34" charset="-122"/>
                <a:cs typeface="Calibri" pitchFamily="34" charset="-120"/>
              </a:rPr>
              <a:t>Made with SlideMaker.app</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D0D1A"/>
        </a:solidFill>
      </p:bgPr>
    </p:bg>
    <p:spTree>
      <p:nvGrpSpPr>
        <p:cNvPr id="1" name=""/>
        <p:cNvGrpSpPr/>
        <p:nvPr/>
      </p:nvGrpSpPr>
      <p:grpSpPr>
        <a:xfrm>
          <a:off x="0" y="0"/>
          <a:ext cx="0" cy="0"/>
          <a:chOff x="0" y="0"/>
          <a:chExt cx="0" cy="0"/>
        </a:xfrm>
      </p:grpSpPr>
      <p:sp>
        <p:nvSpPr>
          <p:cNvPr id="2" name="Text 0"/>
          <p:cNvSpPr/>
          <p:nvPr/>
        </p:nvSpPr>
        <p:spPr>
          <a:xfrm>
            <a:off x="761981" y="507987"/>
            <a:ext cx="8140496" cy="533387"/>
          </a:xfrm>
          <a:prstGeom prst="rect">
            <a:avLst/>
          </a:prstGeom>
          <a:noFill/>
          <a:ln/>
        </p:spPr>
        <p:txBody>
          <a:bodyPr wrap="square" lIns="0" tIns="0" rIns="0" bIns="0" rtlCol="0" anchor="t"/>
          <a:lstStyle/>
          <a:p>
            <a:pPr algn="ctr" indent="0" marL="0">
              <a:lnSpc>
                <a:spcPct val="120000"/>
              </a:lnSpc>
              <a:buNone/>
            </a:pPr>
            <a:r>
              <a:rPr lang="en-US" sz="2900" b="1" dirty="0">
                <a:solidFill>
                  <a:srgbClr val="00FFFF"/>
                </a:solidFill>
                <a:latin typeface="Calibri" pitchFamily="34" charset="0"/>
                <a:ea typeface="Calibri" pitchFamily="34" charset="-122"/>
                <a:cs typeface="Calibri" pitchFamily="34" charset="-120"/>
              </a:rPr>
              <a:t>Collect Component Specifications
</a:t>
            </a:r>
            <a:endParaRPr lang="en-US" sz="2900" dirty="0"/>
          </a:p>
        </p:txBody>
      </p:sp>
      <p:pic>
        <p:nvPicPr>
          <p:cNvPr id="3" name="Image 0" descr="preencoded.png">    </p:cNvPr>
          <p:cNvPicPr>
            <a:picLocks noChangeAspect="1"/>
          </p:cNvPicPr>
          <p:nvPr/>
        </p:nvPicPr>
        <p:blipFill>
          <a:blip r:embed="rId1"/>
          <a:srcRect l="0" r="0" t="0" b="0"/>
          <a:stretch/>
        </p:blipFill>
        <p:spPr>
          <a:xfrm>
            <a:off x="8775481" y="0"/>
            <a:ext cx="3370495" cy="6812280"/>
          </a:xfrm>
          <a:prstGeom prst="rect">
            <a:avLst/>
          </a:prstGeom>
        </p:spPr>
      </p:pic>
      <p:sp>
        <p:nvSpPr>
          <p:cNvPr id="4" name="Shape 1"/>
          <p:cNvSpPr/>
          <p:nvPr/>
        </p:nvSpPr>
        <p:spPr>
          <a:xfrm>
            <a:off x="380990" y="1473163"/>
            <a:ext cx="3962301" cy="2438339"/>
          </a:xfrm>
          <a:prstGeom prst="rect">
            <a:avLst/>
          </a:prstGeom>
          <a:noFill/>
          <a:ln/>
        </p:spPr>
      </p:sp>
      <p:sp>
        <p:nvSpPr>
          <p:cNvPr id="5" name="Text 2"/>
          <p:cNvSpPr/>
          <p:nvPr/>
        </p:nvSpPr>
        <p:spPr>
          <a:xfrm>
            <a:off x="634984" y="1701757"/>
            <a:ext cx="3454314" cy="380990"/>
          </a:xfrm>
          <a:prstGeom prst="rect">
            <a:avLst/>
          </a:prstGeom>
          <a:noFill/>
          <a:ln/>
        </p:spPr>
        <p:txBody>
          <a:bodyPr wrap="square" lIns="0" tIns="0" rIns="0" bIns="0" rtlCol="0" anchor="t"/>
          <a:lstStyle/>
          <a:p>
            <a:pPr algn="l" indent="0" marL="0">
              <a:lnSpc>
                <a:spcPct val="130000"/>
              </a:lnSpc>
              <a:buNone/>
            </a:pPr>
            <a:r>
              <a:rPr lang="en-US" sz="1300" b="1" dirty="0">
                <a:solidFill>
                  <a:srgbClr val="FFFFFF"/>
                </a:solidFill>
                <a:latin typeface="Calibri" pitchFamily="34" charset="0"/>
                <a:ea typeface="Calibri" pitchFamily="34" charset="-122"/>
                <a:cs typeface="Calibri" pitchFamily="34" charset="-120"/>
              </a:rPr>
              <a:t>Engine Power Specification
</a:t>
            </a:r>
            <a:endParaRPr lang="en-US" sz="1300" dirty="0"/>
          </a:p>
        </p:txBody>
      </p:sp>
      <p:sp>
        <p:nvSpPr>
          <p:cNvPr id="6" name="Text 3"/>
          <p:cNvSpPr/>
          <p:nvPr/>
        </p:nvSpPr>
        <p:spPr>
          <a:xfrm>
            <a:off x="634984" y="2108147"/>
            <a:ext cx="3454314" cy="1574761"/>
          </a:xfrm>
          <a:prstGeom prst="rect">
            <a:avLst/>
          </a:prstGeom>
          <a:noFill/>
          <a:ln/>
        </p:spPr>
        <p:txBody>
          <a:bodyPr wrap="square" lIns="0" tIns="0" rIns="0" bIns="0" rtlCol="0" anchor="t"/>
          <a:lstStyle/>
          <a:p>
            <a:pPr algn="l" indent="0" marL="0">
              <a:lnSpc>
                <a:spcPct val="130000"/>
              </a:lnSpc>
              <a:buNone/>
            </a:pPr>
            <a:r>
              <a:rPr lang="en-US" sz="1300" dirty="0">
                <a:solidFill>
                  <a:srgbClr val="FFFFFF"/>
                </a:solidFill>
                <a:latin typeface="Calibri" pitchFamily="34" charset="0"/>
                <a:ea typeface="Calibri" pitchFamily="34" charset="-122"/>
                <a:cs typeface="Calibri" pitchFamily="34" charset="-120"/>
              </a:rPr>
              <a:t>The internal combustion engine delivers 60 kW, ensuring optimal performance and responsiveness during various driving conditions, enhancing overall vehicle dynamics.
</a:t>
            </a:r>
            <a:endParaRPr lang="en-US" sz="1300" dirty="0"/>
          </a:p>
        </p:txBody>
      </p:sp>
      <p:sp>
        <p:nvSpPr>
          <p:cNvPr id="7" name="Shape 4"/>
          <p:cNvSpPr/>
          <p:nvPr/>
        </p:nvSpPr>
        <p:spPr>
          <a:xfrm>
            <a:off x="4546486" y="1473163"/>
            <a:ext cx="3962301" cy="2438339"/>
          </a:xfrm>
          <a:prstGeom prst="rect">
            <a:avLst/>
          </a:prstGeom>
          <a:noFill/>
          <a:ln/>
        </p:spPr>
      </p:sp>
      <p:sp>
        <p:nvSpPr>
          <p:cNvPr id="8" name="Text 5"/>
          <p:cNvSpPr/>
          <p:nvPr/>
        </p:nvSpPr>
        <p:spPr>
          <a:xfrm>
            <a:off x="4800480" y="1701757"/>
            <a:ext cx="3454314" cy="380990"/>
          </a:xfrm>
          <a:prstGeom prst="rect">
            <a:avLst/>
          </a:prstGeom>
          <a:noFill/>
          <a:ln/>
        </p:spPr>
        <p:txBody>
          <a:bodyPr wrap="square" lIns="0" tIns="0" rIns="0" bIns="0" rtlCol="0" anchor="t"/>
          <a:lstStyle/>
          <a:p>
            <a:pPr algn="l" indent="0" marL="0">
              <a:lnSpc>
                <a:spcPct val="130000"/>
              </a:lnSpc>
              <a:buNone/>
            </a:pPr>
            <a:r>
              <a:rPr lang="en-US" sz="1300" b="1" dirty="0">
                <a:solidFill>
                  <a:srgbClr val="FFFFFF"/>
                </a:solidFill>
                <a:latin typeface="Calibri" pitchFamily="34" charset="0"/>
                <a:ea typeface="Calibri" pitchFamily="34" charset="-122"/>
                <a:cs typeface="Calibri" pitchFamily="34" charset="-120"/>
              </a:rPr>
              <a:t>Motor Power Specification
</a:t>
            </a:r>
            <a:endParaRPr lang="en-US" sz="1300" dirty="0"/>
          </a:p>
        </p:txBody>
      </p:sp>
      <p:sp>
        <p:nvSpPr>
          <p:cNvPr id="9" name="Text 6"/>
          <p:cNvSpPr/>
          <p:nvPr/>
        </p:nvSpPr>
        <p:spPr>
          <a:xfrm>
            <a:off x="4800480" y="2108147"/>
            <a:ext cx="3454314" cy="1574761"/>
          </a:xfrm>
          <a:prstGeom prst="rect">
            <a:avLst/>
          </a:prstGeom>
          <a:noFill/>
          <a:ln/>
        </p:spPr>
        <p:txBody>
          <a:bodyPr wrap="square" lIns="0" tIns="0" rIns="0" bIns="0" rtlCol="0" anchor="t"/>
          <a:lstStyle/>
          <a:p>
            <a:pPr algn="l" indent="0" marL="0">
              <a:lnSpc>
                <a:spcPct val="130000"/>
              </a:lnSpc>
              <a:buNone/>
            </a:pPr>
            <a:r>
              <a:rPr lang="en-US" sz="1300" dirty="0">
                <a:solidFill>
                  <a:srgbClr val="FFFFFF"/>
                </a:solidFill>
                <a:latin typeface="Calibri" pitchFamily="34" charset="0"/>
                <a:ea typeface="Calibri" pitchFamily="34" charset="-122"/>
                <a:cs typeface="Calibri" pitchFamily="34" charset="-120"/>
              </a:rPr>
              <a:t>With a power output of 80 kW, the electric motor significantly enhances acceleration, providing instant torque and improving the vehicle's responsiveness and driving experience.
</a:t>
            </a:r>
            <a:endParaRPr lang="en-US" sz="1300" dirty="0"/>
          </a:p>
        </p:txBody>
      </p:sp>
      <p:sp>
        <p:nvSpPr>
          <p:cNvPr id="10" name="Shape 7"/>
          <p:cNvSpPr/>
          <p:nvPr/>
        </p:nvSpPr>
        <p:spPr>
          <a:xfrm>
            <a:off x="380990" y="4419490"/>
            <a:ext cx="8140496" cy="724010"/>
          </a:xfrm>
          <a:prstGeom prst="rect">
            <a:avLst/>
          </a:prstGeom>
          <a:noFill/>
          <a:ln/>
        </p:spPr>
      </p:sp>
      <p:sp>
        <p:nvSpPr>
          <p:cNvPr id="11" name="Text 8"/>
          <p:cNvSpPr/>
          <p:nvPr/>
        </p:nvSpPr>
        <p:spPr>
          <a:xfrm>
            <a:off x="634984" y="4648084"/>
            <a:ext cx="7632509" cy="380990"/>
          </a:xfrm>
          <a:prstGeom prst="rect">
            <a:avLst/>
          </a:prstGeom>
          <a:noFill/>
          <a:ln/>
        </p:spPr>
        <p:txBody>
          <a:bodyPr wrap="square" lIns="0" tIns="0" rIns="0" bIns="0" rtlCol="0" anchor="t"/>
          <a:lstStyle/>
          <a:p>
            <a:pPr algn="l" indent="0" marL="0">
              <a:lnSpc>
                <a:spcPct val="130000"/>
              </a:lnSpc>
              <a:buNone/>
            </a:pPr>
            <a:r>
              <a:rPr lang="en-US" sz="1300" b="1" dirty="0">
                <a:solidFill>
                  <a:srgbClr val="FFFFFF"/>
                </a:solidFill>
                <a:latin typeface="Calibri" pitchFamily="34" charset="0"/>
                <a:ea typeface="Calibri" pitchFamily="34" charset="-122"/>
                <a:cs typeface="Calibri" pitchFamily="34" charset="-120"/>
              </a:rPr>
              <a:t>Battery Capacity Specification
</a:t>
            </a:r>
            <a:endParaRPr lang="en-US" sz="1300" dirty="0"/>
          </a:p>
        </p:txBody>
      </p:sp>
      <p:sp>
        <p:nvSpPr>
          <p:cNvPr id="12" name="Text 9"/>
          <p:cNvSpPr/>
          <p:nvPr/>
        </p:nvSpPr>
        <p:spPr>
          <a:xfrm>
            <a:off x="634984" y="5054474"/>
            <a:ext cx="7632509" cy="693403"/>
          </a:xfrm>
          <a:prstGeom prst="rect">
            <a:avLst/>
          </a:prstGeom>
          <a:noFill/>
          <a:ln/>
        </p:spPr>
        <p:txBody>
          <a:bodyPr wrap="square" lIns="0" tIns="0" rIns="0" bIns="0" rtlCol="0" anchor="t"/>
          <a:lstStyle/>
          <a:p>
            <a:pPr algn="l" indent="0" marL="0">
              <a:lnSpc>
                <a:spcPct val="130000"/>
              </a:lnSpc>
              <a:buNone/>
            </a:pPr>
            <a:r>
              <a:rPr lang="en-US" sz="1300" dirty="0">
                <a:solidFill>
                  <a:srgbClr val="FFFFFF"/>
                </a:solidFill>
                <a:latin typeface="Calibri" pitchFamily="34" charset="0"/>
                <a:ea typeface="Calibri" pitchFamily="34" charset="-122"/>
                <a:cs typeface="Calibri" pitchFamily="34" charset="-120"/>
              </a:rPr>
              <a:t>The battery pack has a capacity of 20 kWh, allowing for extended driving range and supporting efficient energy management in hybrid operations.
</a:t>
            </a:r>
            <a:endParaRPr lang="en-US" sz="1300" dirty="0"/>
          </a:p>
        </p:txBody>
      </p:sp>
      <p:sp>
        <p:nvSpPr>
          <p:cNvPr id="13" name="Text 10"/>
          <p:cNvSpPr/>
          <p:nvPr/>
        </p:nvSpPr>
        <p:spPr>
          <a:xfrm>
            <a:off x="10362895" y="6537960"/>
            <a:ext cx="1691640" cy="256032"/>
          </a:xfrm>
          <a:prstGeom prst="rect">
            <a:avLst/>
          </a:prstGeom>
          <a:solidFill>
            <a:srgbClr val="000000">
              <a:alpha val="45000"/>
            </a:srgbClr>
          </a:solidFill>
          <a:ln/>
        </p:spPr>
        <p:txBody>
          <a:bodyPr wrap="square" rtlCol="0" anchor="ctr"/>
          <a:lstStyle/>
          <a:p>
            <a:pPr algn="ctr" indent="0" marL="0">
              <a:buNone/>
            </a:pPr>
            <a:r>
              <a:rPr lang="en-US" sz="800" dirty="0">
                <a:solidFill>
                  <a:srgbClr val="FFFFFF"/>
                </a:solidFill>
                <a:latin typeface="Calibri" pitchFamily="34" charset="0"/>
                <a:ea typeface="Calibri" pitchFamily="34" charset="-122"/>
                <a:cs typeface="Calibri" pitchFamily="34" charset="-120"/>
              </a:rPr>
              <a:t>Made with SlideMaker.app</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D0D1A"/>
        </a:solidFill>
      </p:bgPr>
    </p:bg>
    <p:spTree>
      <p:nvGrpSpPr>
        <p:cNvPr id="1" name=""/>
        <p:cNvGrpSpPr/>
        <p:nvPr/>
      </p:nvGrpSpPr>
      <p:grpSpPr>
        <a:xfrm>
          <a:off x="0" y="0"/>
          <a:ext cx="0" cy="0"/>
          <a:chOff x="0" y="0"/>
          <a:chExt cx="0" cy="0"/>
        </a:xfrm>
      </p:grpSpPr>
      <p:sp>
        <p:nvSpPr>
          <p:cNvPr id="2" name="Text 0"/>
          <p:cNvSpPr/>
          <p:nvPr/>
        </p:nvSpPr>
        <p:spPr>
          <a:xfrm>
            <a:off x="761981" y="3809905"/>
            <a:ext cx="10667733" cy="761981"/>
          </a:xfrm>
          <a:prstGeom prst="rect">
            <a:avLst/>
          </a:prstGeom>
          <a:noFill/>
          <a:ln/>
        </p:spPr>
        <p:txBody>
          <a:bodyPr wrap="square" lIns="0" tIns="0" rIns="0" bIns="0" rtlCol="0" anchor="t"/>
          <a:lstStyle/>
          <a:p>
            <a:pPr algn="ctr" indent="0" marL="0">
              <a:lnSpc>
                <a:spcPct val="120000"/>
              </a:lnSpc>
              <a:buNone/>
            </a:pPr>
            <a:r>
              <a:rPr lang="en-US" sz="2900" b="1" dirty="0">
                <a:solidFill>
                  <a:srgbClr val="00FFFF"/>
                </a:solidFill>
                <a:latin typeface="Calibri" pitchFamily="34" charset="0"/>
                <a:ea typeface="Calibri" pitchFamily="34" charset="-122"/>
                <a:cs typeface="Calibri" pitchFamily="34" charset="-120"/>
              </a:rPr>
              <a:t>System Block Diagram of HEV
</a:t>
            </a:r>
            <a:endParaRPr lang="en-US" sz="2900" dirty="0"/>
          </a:p>
        </p:txBody>
      </p:sp>
      <p:sp>
        <p:nvSpPr>
          <p:cNvPr id="3" name="Text 1"/>
          <p:cNvSpPr/>
          <p:nvPr/>
        </p:nvSpPr>
        <p:spPr>
          <a:xfrm>
            <a:off x="1015975" y="4825879"/>
            <a:ext cx="10159746" cy="1523962"/>
          </a:xfrm>
          <a:prstGeom prst="rect">
            <a:avLst/>
          </a:prstGeom>
          <a:noFill/>
          <a:ln/>
        </p:spPr>
        <p:txBody>
          <a:bodyPr wrap="square" lIns="0" tIns="0" rIns="0" bIns="0" rtlCol="0" anchor="t"/>
          <a:lstStyle/>
          <a:p>
            <a:pPr algn="ctr" indent="0" marL="0">
              <a:lnSpc>
                <a:spcPct val="150000"/>
              </a:lnSpc>
              <a:buNone/>
            </a:pPr>
            <a:r>
              <a:rPr lang="en-US" sz="1300" dirty="0">
                <a:solidFill>
                  <a:srgbClr val="FFFFFF"/>
                </a:solidFill>
                <a:latin typeface="Calibri" pitchFamily="34" charset="0"/>
                <a:ea typeface="Calibri" pitchFamily="34" charset="-122"/>
                <a:cs typeface="Calibri" pitchFamily="34" charset="-120"/>
              </a:rPr>
              <a:t>This diagram illustrates the power flow architecture of the Hybrid Electric Vehicle. It shows how the engine and motor combine their outputs through a power combiner, optimizing efficiency and performance.
</a:t>
            </a:r>
            <a:endParaRPr lang="en-US" sz="1300" dirty="0"/>
          </a:p>
        </p:txBody>
      </p:sp>
      <p:pic>
        <p:nvPicPr>
          <p:cNvPr id="4" name="Image 0" descr="preencoded.png">    </p:cNvPr>
          <p:cNvPicPr>
            <a:picLocks noChangeAspect="1"/>
          </p:cNvPicPr>
          <p:nvPr/>
        </p:nvPicPr>
        <p:blipFill>
          <a:blip r:embed="rId1"/>
          <a:srcRect l="0" r="0" t="0" b="0"/>
          <a:stretch/>
        </p:blipFill>
        <p:spPr>
          <a:xfrm>
            <a:off x="0" y="0"/>
            <a:ext cx="12145975" cy="3555911"/>
          </a:xfrm>
          <a:prstGeom prst="rect">
            <a:avLst/>
          </a:prstGeom>
        </p:spPr>
      </p:pic>
      <p:sp>
        <p:nvSpPr>
          <p:cNvPr id="5" name="Text 2"/>
          <p:cNvSpPr/>
          <p:nvPr/>
        </p:nvSpPr>
        <p:spPr>
          <a:xfrm>
            <a:off x="10362895" y="6537960"/>
            <a:ext cx="1691640" cy="256032"/>
          </a:xfrm>
          <a:prstGeom prst="rect">
            <a:avLst/>
          </a:prstGeom>
          <a:solidFill>
            <a:srgbClr val="000000">
              <a:alpha val="45000"/>
            </a:srgbClr>
          </a:solidFill>
          <a:ln/>
        </p:spPr>
        <p:txBody>
          <a:bodyPr wrap="square" rtlCol="0" anchor="ctr"/>
          <a:lstStyle/>
          <a:p>
            <a:pPr algn="ctr" indent="0" marL="0">
              <a:buNone/>
            </a:pPr>
            <a:r>
              <a:rPr lang="en-US" sz="800" dirty="0">
                <a:solidFill>
                  <a:srgbClr val="FFFFFF"/>
                </a:solidFill>
                <a:latin typeface="Calibri" pitchFamily="34" charset="0"/>
                <a:ea typeface="Calibri" pitchFamily="34" charset="-122"/>
                <a:cs typeface="Calibri" pitchFamily="34" charset="-120"/>
              </a:rPr>
              <a:t>Made with SlideMaker.app</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0D1A"/>
        </a:solidFill>
      </p:bgPr>
    </p:bg>
    <p:spTree>
      <p:nvGrpSpPr>
        <p:cNvPr id="1" name=""/>
        <p:cNvGrpSpPr/>
        <p:nvPr/>
      </p:nvGrpSpPr>
      <p:grpSpPr>
        <a:xfrm>
          <a:off x="0" y="0"/>
          <a:ext cx="0" cy="0"/>
          <a:chOff x="0" y="0"/>
          <a:chExt cx="0" cy="0"/>
        </a:xfrm>
      </p:grpSpPr>
      <p:sp>
        <p:nvSpPr>
          <p:cNvPr id="2" name="Text 0"/>
          <p:cNvSpPr/>
          <p:nvPr/>
        </p:nvSpPr>
        <p:spPr>
          <a:xfrm>
            <a:off x="761981" y="507987"/>
            <a:ext cx="10667733" cy="761981"/>
          </a:xfrm>
          <a:prstGeom prst="rect">
            <a:avLst/>
          </a:prstGeom>
          <a:noFill/>
          <a:ln/>
        </p:spPr>
        <p:txBody>
          <a:bodyPr wrap="square" lIns="0" tIns="0" rIns="0" bIns="0" rtlCol="0" anchor="t"/>
          <a:lstStyle/>
          <a:p>
            <a:pPr algn="ctr" indent="0" marL="0">
              <a:lnSpc>
                <a:spcPct val="120000"/>
              </a:lnSpc>
              <a:buNone/>
            </a:pPr>
            <a:r>
              <a:rPr lang="en-US" sz="2900" b="1" dirty="0">
                <a:solidFill>
                  <a:srgbClr val="00FFFF"/>
                </a:solidFill>
                <a:latin typeface="Calibri" pitchFamily="34" charset="0"/>
                <a:ea typeface="Calibri" pitchFamily="34" charset="-122"/>
                <a:cs typeface="Calibri" pitchFamily="34" charset="-120"/>
              </a:rPr>
              <a:t>Calculate Energy Flow
</a:t>
            </a:r>
            <a:endParaRPr lang="en-US" sz="2900" dirty="0"/>
          </a:p>
        </p:txBody>
      </p:sp>
      <p:sp>
        <p:nvSpPr>
          <p:cNvPr id="3" name="Shape 1"/>
          <p:cNvSpPr/>
          <p:nvPr/>
        </p:nvSpPr>
        <p:spPr>
          <a:xfrm>
            <a:off x="698483" y="1523962"/>
            <a:ext cx="38099" cy="2793930"/>
          </a:xfrm>
          <a:prstGeom prst="rect">
            <a:avLst/>
          </a:prstGeom>
          <a:solidFill>
            <a:srgbClr val="8B5CF6"/>
          </a:solidFill>
          <a:ln/>
        </p:spPr>
      </p:sp>
      <p:pic>
        <p:nvPicPr>
          <p:cNvPr id="4" name="Image 0" descr="preencoded.png">    </p:cNvPr>
          <p:cNvPicPr>
            <a:picLocks noChangeAspect="1"/>
          </p:cNvPicPr>
          <p:nvPr/>
        </p:nvPicPr>
        <p:blipFill>
          <a:blip r:embed="rId1"/>
          <a:srcRect l="0" r="0" t="0" b="0"/>
          <a:stretch/>
        </p:blipFill>
        <p:spPr>
          <a:xfrm>
            <a:off x="507987" y="1320767"/>
            <a:ext cx="406390" cy="406390"/>
          </a:xfrm>
          <a:prstGeom prst="rect">
            <a:avLst/>
          </a:prstGeom>
        </p:spPr>
      </p:pic>
      <p:sp>
        <p:nvSpPr>
          <p:cNvPr id="5" name="Text 2"/>
          <p:cNvSpPr/>
          <p:nvPr/>
        </p:nvSpPr>
        <p:spPr>
          <a:xfrm>
            <a:off x="507987" y="1320767"/>
            <a:ext cx="406390" cy="406390"/>
          </a:xfrm>
          <a:prstGeom prst="rect">
            <a:avLst/>
          </a:prstGeom>
          <a:noFill/>
          <a:ln/>
        </p:spPr>
        <p:txBody>
          <a:bodyPr wrap="square" lIns="0" tIns="0" rIns="0" bIns="0" rtlCol="0" anchor="t"/>
          <a:lstStyle/>
          <a:p>
            <a:pPr algn="ctr" indent="0" marL="0">
              <a:lnSpc>
                <a:spcPct val="100000"/>
              </a:lnSpc>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6" name="Text 3"/>
          <p:cNvSpPr/>
          <p:nvPr/>
        </p:nvSpPr>
        <p:spPr>
          <a:xfrm>
            <a:off x="1092173" y="1295368"/>
            <a:ext cx="9194570" cy="507987"/>
          </a:xfrm>
          <a:prstGeom prst="rect">
            <a:avLst/>
          </a:prstGeom>
          <a:noFill/>
          <a:ln/>
        </p:spPr>
        <p:txBody>
          <a:bodyPr wrap="square" lIns="0" tIns="0" rIns="0" bIns="0" rtlCol="0" anchor="t"/>
          <a:lstStyle/>
          <a:p>
            <a:pPr algn="l" indent="0" marL="0">
              <a:lnSpc>
                <a:spcPct val="130000"/>
              </a:lnSpc>
              <a:buNone/>
            </a:pPr>
            <a:r>
              <a:rPr lang="en-US" sz="1300" b="1" dirty="0">
                <a:solidFill>
                  <a:srgbClr val="00FFFF"/>
                </a:solidFill>
                <a:latin typeface="Calibri" pitchFamily="34" charset="0"/>
                <a:ea typeface="Calibri" pitchFamily="34" charset="-122"/>
                <a:cs typeface="Calibri" pitchFamily="34" charset="-120"/>
              </a:rPr>
              <a:t>Engine Output Contribution
</a:t>
            </a:r>
            <a:endParaRPr lang="en-US" sz="1300" dirty="0"/>
          </a:p>
        </p:txBody>
      </p:sp>
      <p:sp>
        <p:nvSpPr>
          <p:cNvPr id="7" name="Text 4"/>
          <p:cNvSpPr/>
          <p:nvPr/>
        </p:nvSpPr>
        <p:spPr>
          <a:xfrm>
            <a:off x="1092173" y="1752556"/>
            <a:ext cx="9194570" cy="924537"/>
          </a:xfrm>
          <a:prstGeom prst="rect">
            <a:avLst/>
          </a:prstGeom>
          <a:noFill/>
          <a:ln/>
        </p:spPr>
        <p:txBody>
          <a:bodyPr wrap="square" lIns="0" tIns="0" rIns="0" bIns="0" rtlCol="0" anchor="t"/>
          <a:lstStyle/>
          <a:p>
            <a:pPr algn="l" indent="0" marL="0">
              <a:lnSpc>
                <a:spcPct val="130000"/>
              </a:lnSpc>
              <a:buNone/>
            </a:pPr>
            <a:r>
              <a:rPr lang="en-US" sz="1300" dirty="0">
                <a:solidFill>
                  <a:srgbClr val="FFFFFF"/>
                </a:solidFill>
                <a:latin typeface="Calibri" pitchFamily="34" charset="0"/>
                <a:ea typeface="Calibri" pitchFamily="34" charset="-122"/>
                <a:cs typeface="Calibri" pitchFamily="34" charset="-120"/>
              </a:rPr>
              <a:t>The internal combustion engine (ICE) provides a steady output of 60 kW, crucial for maintaining vehicle performance during various driving conditions.
</a:t>
            </a:r>
            <a:endParaRPr lang="en-US" sz="1300" dirty="0"/>
          </a:p>
        </p:txBody>
      </p:sp>
      <p:pic>
        <p:nvPicPr>
          <p:cNvPr id="8" name="Image 1" descr="preencoded.png">    </p:cNvPr>
          <p:cNvPicPr>
            <a:picLocks noChangeAspect="1"/>
          </p:cNvPicPr>
          <p:nvPr/>
        </p:nvPicPr>
        <p:blipFill>
          <a:blip r:embed="rId2"/>
          <a:srcRect l="0" r="0" t="0" b="0"/>
          <a:stretch/>
        </p:blipFill>
        <p:spPr>
          <a:xfrm>
            <a:off x="507987" y="2717732"/>
            <a:ext cx="406390" cy="406390"/>
          </a:xfrm>
          <a:prstGeom prst="rect">
            <a:avLst/>
          </a:prstGeom>
        </p:spPr>
      </p:pic>
      <p:sp>
        <p:nvSpPr>
          <p:cNvPr id="9" name="Text 5"/>
          <p:cNvSpPr/>
          <p:nvPr/>
        </p:nvSpPr>
        <p:spPr>
          <a:xfrm>
            <a:off x="507987" y="2717732"/>
            <a:ext cx="406390" cy="406390"/>
          </a:xfrm>
          <a:prstGeom prst="rect">
            <a:avLst/>
          </a:prstGeom>
          <a:noFill/>
          <a:ln/>
        </p:spPr>
        <p:txBody>
          <a:bodyPr wrap="square" lIns="0" tIns="0" rIns="0" bIns="0" rtlCol="0" anchor="t"/>
          <a:lstStyle/>
          <a:p>
            <a:pPr algn="ctr" indent="0" marL="0">
              <a:lnSpc>
                <a:spcPct val="100000"/>
              </a:lnSpc>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0" name="Text 6"/>
          <p:cNvSpPr/>
          <p:nvPr/>
        </p:nvSpPr>
        <p:spPr>
          <a:xfrm>
            <a:off x="1092173" y="2692333"/>
            <a:ext cx="9194570" cy="507987"/>
          </a:xfrm>
          <a:prstGeom prst="rect">
            <a:avLst/>
          </a:prstGeom>
          <a:noFill/>
          <a:ln/>
        </p:spPr>
        <p:txBody>
          <a:bodyPr wrap="square" lIns="0" tIns="0" rIns="0" bIns="0" rtlCol="0" anchor="t"/>
          <a:lstStyle/>
          <a:p>
            <a:pPr algn="l" indent="0" marL="0">
              <a:lnSpc>
                <a:spcPct val="130000"/>
              </a:lnSpc>
              <a:buNone/>
            </a:pPr>
            <a:r>
              <a:rPr lang="en-US" sz="1300" b="1" dirty="0">
                <a:solidFill>
                  <a:srgbClr val="00FFFF"/>
                </a:solidFill>
                <a:latin typeface="Calibri" pitchFamily="34" charset="0"/>
                <a:ea typeface="Calibri" pitchFamily="34" charset="-122"/>
                <a:cs typeface="Calibri" pitchFamily="34" charset="-120"/>
              </a:rPr>
              <a:t>Motor Output Addition
</a:t>
            </a:r>
            <a:endParaRPr lang="en-US" sz="1300" dirty="0"/>
          </a:p>
        </p:txBody>
      </p:sp>
      <p:sp>
        <p:nvSpPr>
          <p:cNvPr id="11" name="Text 7"/>
          <p:cNvSpPr/>
          <p:nvPr/>
        </p:nvSpPr>
        <p:spPr>
          <a:xfrm>
            <a:off x="1092173" y="3149521"/>
            <a:ext cx="9194570" cy="924537"/>
          </a:xfrm>
          <a:prstGeom prst="rect">
            <a:avLst/>
          </a:prstGeom>
          <a:noFill/>
          <a:ln/>
        </p:spPr>
        <p:txBody>
          <a:bodyPr wrap="square" lIns="0" tIns="0" rIns="0" bIns="0" rtlCol="0" anchor="t"/>
          <a:lstStyle/>
          <a:p>
            <a:pPr algn="l" indent="0" marL="0">
              <a:lnSpc>
                <a:spcPct val="130000"/>
              </a:lnSpc>
              <a:buNone/>
            </a:pPr>
            <a:r>
              <a:rPr lang="en-US" sz="1300" dirty="0">
                <a:solidFill>
                  <a:srgbClr val="FFFFFF"/>
                </a:solidFill>
                <a:latin typeface="Calibri" pitchFamily="34" charset="0"/>
                <a:ea typeface="Calibri" pitchFamily="34" charset="-122"/>
                <a:cs typeface="Calibri" pitchFamily="34" charset="-120"/>
              </a:rPr>
              <a:t>The electric motor contributes an additional 80 kW, enhancing acceleration and overall efficiency, especially during low-speed operations and start-stop scenarios.
</a:t>
            </a:r>
            <a:endParaRPr lang="en-US" sz="1300" dirty="0"/>
          </a:p>
        </p:txBody>
      </p:sp>
      <p:pic>
        <p:nvPicPr>
          <p:cNvPr id="12" name="Image 2" descr="preencoded.png">    </p:cNvPr>
          <p:cNvPicPr>
            <a:picLocks noChangeAspect="1"/>
          </p:cNvPicPr>
          <p:nvPr/>
        </p:nvPicPr>
        <p:blipFill>
          <a:blip r:embed="rId3"/>
          <a:srcRect l="0" r="0" t="0" b="0"/>
          <a:stretch/>
        </p:blipFill>
        <p:spPr>
          <a:xfrm>
            <a:off x="507987" y="4114697"/>
            <a:ext cx="406390" cy="406390"/>
          </a:xfrm>
          <a:prstGeom prst="rect">
            <a:avLst/>
          </a:prstGeom>
        </p:spPr>
      </p:pic>
      <p:sp>
        <p:nvSpPr>
          <p:cNvPr id="13" name="Text 8"/>
          <p:cNvSpPr/>
          <p:nvPr/>
        </p:nvSpPr>
        <p:spPr>
          <a:xfrm>
            <a:off x="507987" y="4114697"/>
            <a:ext cx="406390" cy="406390"/>
          </a:xfrm>
          <a:prstGeom prst="rect">
            <a:avLst/>
          </a:prstGeom>
          <a:noFill/>
          <a:ln/>
        </p:spPr>
        <p:txBody>
          <a:bodyPr wrap="square" lIns="0" tIns="0" rIns="0" bIns="0" rtlCol="0" anchor="t"/>
          <a:lstStyle/>
          <a:p>
            <a:pPr algn="ctr" indent="0" marL="0">
              <a:lnSpc>
                <a:spcPct val="100000"/>
              </a:lnSpc>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4" name="Text 9"/>
          <p:cNvSpPr/>
          <p:nvPr/>
        </p:nvSpPr>
        <p:spPr>
          <a:xfrm>
            <a:off x="1092173" y="4089298"/>
            <a:ext cx="9194570" cy="507987"/>
          </a:xfrm>
          <a:prstGeom prst="rect">
            <a:avLst/>
          </a:prstGeom>
          <a:noFill/>
          <a:ln/>
        </p:spPr>
        <p:txBody>
          <a:bodyPr wrap="square" lIns="0" tIns="0" rIns="0" bIns="0" rtlCol="0" anchor="t"/>
          <a:lstStyle/>
          <a:p>
            <a:pPr algn="l" indent="0" marL="0">
              <a:lnSpc>
                <a:spcPct val="130000"/>
              </a:lnSpc>
              <a:buNone/>
            </a:pPr>
            <a:r>
              <a:rPr lang="en-US" sz="1300" b="1" dirty="0">
                <a:solidFill>
                  <a:srgbClr val="00FFFF"/>
                </a:solidFill>
                <a:latin typeface="Calibri" pitchFamily="34" charset="0"/>
                <a:ea typeface="Calibri" pitchFamily="34" charset="-122"/>
                <a:cs typeface="Calibri" pitchFamily="34" charset="-120"/>
              </a:rPr>
              <a:t>Total Power Output
</a:t>
            </a:r>
            <a:endParaRPr lang="en-US" sz="1300" dirty="0"/>
          </a:p>
        </p:txBody>
      </p:sp>
      <p:sp>
        <p:nvSpPr>
          <p:cNvPr id="15" name="Text 10"/>
          <p:cNvSpPr/>
          <p:nvPr/>
        </p:nvSpPr>
        <p:spPr>
          <a:xfrm>
            <a:off x="1092173" y="4546486"/>
            <a:ext cx="9194570" cy="761981"/>
          </a:xfrm>
          <a:prstGeom prst="rect">
            <a:avLst/>
          </a:prstGeom>
          <a:noFill/>
          <a:ln/>
        </p:spPr>
        <p:txBody>
          <a:bodyPr wrap="square" lIns="0" tIns="0" rIns="0" bIns="0" rtlCol="0" anchor="t"/>
          <a:lstStyle/>
          <a:p>
            <a:pPr algn="l" indent="0" marL="0">
              <a:lnSpc>
                <a:spcPct val="130000"/>
              </a:lnSpc>
              <a:buNone/>
            </a:pPr>
            <a:r>
              <a:rPr lang="en-US" sz="1300" dirty="0">
                <a:solidFill>
                  <a:srgbClr val="FFFFFF"/>
                </a:solidFill>
                <a:latin typeface="Calibri" pitchFamily="34" charset="0"/>
                <a:ea typeface="Calibri" pitchFamily="34" charset="-122"/>
                <a:cs typeface="Calibri" pitchFamily="34" charset="-120"/>
              </a:rPr>
              <a:t>Combining both sources, the total output reaches 140 kW, ensuring optimal energy flow for effective vehicle operation and improved fuel economy.
</a:t>
            </a:r>
            <a:endParaRPr lang="en-US" sz="1300" dirty="0"/>
          </a:p>
        </p:txBody>
      </p:sp>
      <p:sp>
        <p:nvSpPr>
          <p:cNvPr id="16" name="Text 11"/>
          <p:cNvSpPr/>
          <p:nvPr/>
        </p:nvSpPr>
        <p:spPr>
          <a:xfrm>
            <a:off x="10362895" y="6537960"/>
            <a:ext cx="1691640" cy="256032"/>
          </a:xfrm>
          <a:prstGeom prst="rect">
            <a:avLst/>
          </a:prstGeom>
          <a:solidFill>
            <a:srgbClr val="000000">
              <a:alpha val="45000"/>
            </a:srgbClr>
          </a:solidFill>
          <a:ln/>
        </p:spPr>
        <p:txBody>
          <a:bodyPr wrap="square" rtlCol="0" anchor="ctr"/>
          <a:lstStyle/>
          <a:p>
            <a:pPr algn="ctr" indent="0" marL="0">
              <a:buNone/>
            </a:pPr>
            <a:r>
              <a:rPr lang="en-US" sz="800" dirty="0">
                <a:solidFill>
                  <a:srgbClr val="FFFFFF"/>
                </a:solidFill>
                <a:latin typeface="Calibri" pitchFamily="34" charset="0"/>
                <a:ea typeface="Calibri" pitchFamily="34" charset="-122"/>
                <a:cs typeface="Calibri" pitchFamily="34" charset="-120"/>
              </a:rPr>
              <a:t>Made with SlideMaker.app</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D0D1A"/>
        </a:solidFill>
      </p:bgPr>
    </p:bg>
    <p:spTree>
      <p:nvGrpSpPr>
        <p:cNvPr id="1" name=""/>
        <p:cNvGrpSpPr/>
        <p:nvPr/>
      </p:nvGrpSpPr>
      <p:grpSpPr>
        <a:xfrm>
          <a:off x="0" y="0"/>
          <a:ext cx="0" cy="0"/>
          <a:chOff x="0" y="0"/>
          <a:chExt cx="0" cy="0"/>
        </a:xfrm>
      </p:grpSpPr>
      <p:sp>
        <p:nvSpPr>
          <p:cNvPr id="2" name="Text 0"/>
          <p:cNvSpPr/>
          <p:nvPr/>
        </p:nvSpPr>
        <p:spPr>
          <a:xfrm>
            <a:off x="761981" y="507987"/>
            <a:ext cx="8140496" cy="533387"/>
          </a:xfrm>
          <a:prstGeom prst="rect">
            <a:avLst/>
          </a:prstGeom>
          <a:noFill/>
          <a:ln/>
        </p:spPr>
        <p:txBody>
          <a:bodyPr wrap="square" lIns="0" tIns="0" rIns="0" bIns="0" rtlCol="0" anchor="t"/>
          <a:lstStyle/>
          <a:p>
            <a:pPr algn="ctr" indent="0" marL="0">
              <a:lnSpc>
                <a:spcPct val="120000"/>
              </a:lnSpc>
              <a:buNone/>
            </a:pPr>
            <a:r>
              <a:rPr lang="en-US" sz="2900" b="1" dirty="0">
                <a:solidFill>
                  <a:srgbClr val="00FFFF"/>
                </a:solidFill>
                <a:latin typeface="Calibri" pitchFamily="34" charset="0"/>
                <a:ea typeface="Calibri" pitchFamily="34" charset="-122"/>
                <a:cs typeface="Calibri" pitchFamily="34" charset="-120"/>
              </a:rPr>
              <a:t>Model Torque and Speed Distribution
</a:t>
            </a:r>
            <a:endParaRPr lang="en-US" sz="2900" dirty="0"/>
          </a:p>
        </p:txBody>
      </p:sp>
      <p:pic>
        <p:nvPicPr>
          <p:cNvPr id="3" name="Image 0" descr="preencoded.png">    </p:cNvPr>
          <p:cNvPicPr>
            <a:picLocks noChangeAspect="1"/>
          </p:cNvPicPr>
          <p:nvPr/>
        </p:nvPicPr>
        <p:blipFill>
          <a:blip r:embed="rId1">
            <a:extLst>
              <a:ext uri="{96DAC541-7B7A-43D3-8B79-37D633B846F1}">
                <asvg:svgBlip xmlns:asvg="http://schemas.microsoft.com/office/drawing/2016/SVG/main" r:embed="rId2"/>
              </a:ext>
            </a:extLst>
          </a:blip>
          <a:srcRect l="0" r="0" t="0" b="0"/>
          <a:stretch/>
        </p:blipFill>
        <p:spPr>
          <a:xfrm>
            <a:off x="8775481" y="0"/>
            <a:ext cx="3370495" cy="6812280"/>
          </a:xfrm>
          <a:prstGeom prst="rect">
            <a:avLst/>
          </a:prstGeom>
        </p:spPr>
      </p:pic>
      <p:sp>
        <p:nvSpPr>
          <p:cNvPr id="4" name="Shape 1"/>
          <p:cNvSpPr/>
          <p:nvPr/>
        </p:nvSpPr>
        <p:spPr>
          <a:xfrm>
            <a:off x="380990" y="1473163"/>
            <a:ext cx="3962301" cy="2438339"/>
          </a:xfrm>
          <a:prstGeom prst="rect">
            <a:avLst/>
          </a:prstGeom>
          <a:noFill/>
          <a:ln/>
        </p:spPr>
      </p:sp>
      <p:sp>
        <p:nvSpPr>
          <p:cNvPr id="5" name="Text 2"/>
          <p:cNvSpPr/>
          <p:nvPr/>
        </p:nvSpPr>
        <p:spPr>
          <a:xfrm>
            <a:off x="634984" y="1701757"/>
            <a:ext cx="3454314" cy="380990"/>
          </a:xfrm>
          <a:prstGeom prst="rect">
            <a:avLst/>
          </a:prstGeom>
          <a:noFill/>
          <a:ln/>
        </p:spPr>
        <p:txBody>
          <a:bodyPr wrap="square" lIns="0" tIns="0" rIns="0" bIns="0" rtlCol="0" anchor="t"/>
          <a:lstStyle/>
          <a:p>
            <a:pPr algn="l" indent="0" marL="0">
              <a:lnSpc>
                <a:spcPct val="130000"/>
              </a:lnSpc>
              <a:buNone/>
            </a:pPr>
            <a:r>
              <a:rPr lang="en-US" sz="1300" b="1" dirty="0">
                <a:solidFill>
                  <a:srgbClr val="FFFFFF"/>
                </a:solidFill>
                <a:latin typeface="Calibri" pitchFamily="34" charset="0"/>
                <a:ea typeface="Calibri" pitchFamily="34" charset="-122"/>
                <a:cs typeface="Calibri" pitchFamily="34" charset="-120"/>
              </a:rPr>
              <a:t>Power Sharing Dynamics
</a:t>
            </a:r>
            <a:endParaRPr lang="en-US" sz="1300" dirty="0"/>
          </a:p>
        </p:txBody>
      </p:sp>
      <p:sp>
        <p:nvSpPr>
          <p:cNvPr id="6" name="Text 3"/>
          <p:cNvSpPr/>
          <p:nvPr/>
        </p:nvSpPr>
        <p:spPr>
          <a:xfrm>
            <a:off x="634984" y="2108147"/>
            <a:ext cx="3454314" cy="1574761"/>
          </a:xfrm>
          <a:prstGeom prst="rect">
            <a:avLst/>
          </a:prstGeom>
          <a:noFill/>
          <a:ln/>
        </p:spPr>
        <p:txBody>
          <a:bodyPr wrap="square" lIns="0" tIns="0" rIns="0" bIns="0" rtlCol="0" anchor="t"/>
          <a:lstStyle/>
          <a:p>
            <a:pPr algn="l" indent="0" marL="0">
              <a:lnSpc>
                <a:spcPct val="130000"/>
              </a:lnSpc>
              <a:buNone/>
            </a:pPr>
            <a:r>
              <a:rPr lang="en-US" sz="1300" dirty="0">
                <a:solidFill>
                  <a:srgbClr val="FFFFFF"/>
                </a:solidFill>
                <a:latin typeface="Calibri" pitchFamily="34" charset="0"/>
                <a:ea typeface="Calibri" pitchFamily="34" charset="-122"/>
                <a:cs typeface="Calibri" pitchFamily="34" charset="-120"/>
              </a:rPr>
              <a:t>The model effectively simulates power sharing between the engine and motor, ensuring optimal torque distribution for enhanced vehicle performance under varying conditions.
</a:t>
            </a:r>
            <a:endParaRPr lang="en-US" sz="1300" dirty="0"/>
          </a:p>
        </p:txBody>
      </p:sp>
      <p:sp>
        <p:nvSpPr>
          <p:cNvPr id="7" name="Shape 4"/>
          <p:cNvSpPr/>
          <p:nvPr/>
        </p:nvSpPr>
        <p:spPr>
          <a:xfrm>
            <a:off x="4546486" y="1473163"/>
            <a:ext cx="3962301" cy="2133547"/>
          </a:xfrm>
          <a:prstGeom prst="rect">
            <a:avLst/>
          </a:prstGeom>
          <a:noFill/>
          <a:ln/>
        </p:spPr>
      </p:sp>
      <p:sp>
        <p:nvSpPr>
          <p:cNvPr id="8" name="Text 5"/>
          <p:cNvSpPr/>
          <p:nvPr/>
        </p:nvSpPr>
        <p:spPr>
          <a:xfrm>
            <a:off x="4800480" y="1701757"/>
            <a:ext cx="3454314" cy="380990"/>
          </a:xfrm>
          <a:prstGeom prst="rect">
            <a:avLst/>
          </a:prstGeom>
          <a:noFill/>
          <a:ln/>
        </p:spPr>
        <p:txBody>
          <a:bodyPr wrap="square" lIns="0" tIns="0" rIns="0" bIns="0" rtlCol="0" anchor="t"/>
          <a:lstStyle/>
          <a:p>
            <a:pPr algn="l" indent="0" marL="0">
              <a:lnSpc>
                <a:spcPct val="130000"/>
              </a:lnSpc>
              <a:buNone/>
            </a:pPr>
            <a:r>
              <a:rPr lang="en-US" sz="1300" b="1" dirty="0">
                <a:solidFill>
                  <a:srgbClr val="FFFFFF"/>
                </a:solidFill>
                <a:latin typeface="Calibri" pitchFamily="34" charset="0"/>
                <a:ea typeface="Calibri" pitchFamily="34" charset="-122"/>
                <a:cs typeface="Calibri" pitchFamily="34" charset="-120"/>
              </a:rPr>
              <a:t>Balanced Operation
</a:t>
            </a:r>
            <a:endParaRPr lang="en-US" sz="1300" dirty="0"/>
          </a:p>
        </p:txBody>
      </p:sp>
      <p:sp>
        <p:nvSpPr>
          <p:cNvPr id="9" name="Text 6"/>
          <p:cNvSpPr/>
          <p:nvPr/>
        </p:nvSpPr>
        <p:spPr>
          <a:xfrm>
            <a:off x="4800480" y="2108147"/>
            <a:ext cx="3454314" cy="1269968"/>
          </a:xfrm>
          <a:prstGeom prst="rect">
            <a:avLst/>
          </a:prstGeom>
          <a:noFill/>
          <a:ln/>
        </p:spPr>
        <p:txBody>
          <a:bodyPr wrap="square" lIns="0" tIns="0" rIns="0" bIns="0" rtlCol="0" anchor="t"/>
          <a:lstStyle/>
          <a:p>
            <a:pPr algn="l" indent="0" marL="0">
              <a:lnSpc>
                <a:spcPct val="130000"/>
              </a:lnSpc>
              <a:buNone/>
            </a:pPr>
            <a:r>
              <a:rPr lang="en-US" sz="1300" dirty="0">
                <a:solidFill>
                  <a:srgbClr val="FFFFFF"/>
                </a:solidFill>
                <a:latin typeface="Calibri" pitchFamily="34" charset="0"/>
                <a:ea typeface="Calibri" pitchFamily="34" charset="-122"/>
                <a:cs typeface="Calibri" pitchFamily="34" charset="-120"/>
              </a:rPr>
              <a:t>A balanced vehicle operation is achieved through precise torque management, leading to improved acceleration and stability during different driving scenarios.
</a:t>
            </a:r>
            <a:endParaRPr lang="en-US" sz="1300" dirty="0"/>
          </a:p>
        </p:txBody>
      </p:sp>
      <p:sp>
        <p:nvSpPr>
          <p:cNvPr id="10" name="Shape 7"/>
          <p:cNvSpPr/>
          <p:nvPr/>
        </p:nvSpPr>
        <p:spPr>
          <a:xfrm>
            <a:off x="380990" y="4419490"/>
            <a:ext cx="8140496" cy="724010"/>
          </a:xfrm>
          <a:prstGeom prst="rect">
            <a:avLst/>
          </a:prstGeom>
          <a:noFill/>
          <a:ln/>
        </p:spPr>
      </p:sp>
      <p:sp>
        <p:nvSpPr>
          <p:cNvPr id="11" name="Text 8"/>
          <p:cNvSpPr/>
          <p:nvPr/>
        </p:nvSpPr>
        <p:spPr>
          <a:xfrm>
            <a:off x="634984" y="4648084"/>
            <a:ext cx="7632509" cy="380990"/>
          </a:xfrm>
          <a:prstGeom prst="rect">
            <a:avLst/>
          </a:prstGeom>
          <a:noFill/>
          <a:ln/>
        </p:spPr>
        <p:txBody>
          <a:bodyPr wrap="square" lIns="0" tIns="0" rIns="0" bIns="0" rtlCol="0" anchor="t"/>
          <a:lstStyle/>
          <a:p>
            <a:pPr algn="l" indent="0" marL="0">
              <a:lnSpc>
                <a:spcPct val="130000"/>
              </a:lnSpc>
              <a:buNone/>
            </a:pPr>
            <a:r>
              <a:rPr lang="en-US" sz="1300" b="1" dirty="0">
                <a:solidFill>
                  <a:srgbClr val="FFFFFF"/>
                </a:solidFill>
                <a:latin typeface="Calibri" pitchFamily="34" charset="0"/>
                <a:ea typeface="Calibri" pitchFamily="34" charset="-122"/>
                <a:cs typeface="Calibri" pitchFamily="34" charset="-120"/>
              </a:rPr>
              <a:t>Performance Metrics
</a:t>
            </a:r>
            <a:endParaRPr lang="en-US" sz="1300" dirty="0"/>
          </a:p>
        </p:txBody>
      </p:sp>
      <p:sp>
        <p:nvSpPr>
          <p:cNvPr id="12" name="Text 9"/>
          <p:cNvSpPr/>
          <p:nvPr/>
        </p:nvSpPr>
        <p:spPr>
          <a:xfrm>
            <a:off x="634984" y="5054474"/>
            <a:ext cx="7632509" cy="924537"/>
          </a:xfrm>
          <a:prstGeom prst="rect">
            <a:avLst/>
          </a:prstGeom>
          <a:noFill/>
          <a:ln/>
        </p:spPr>
        <p:txBody>
          <a:bodyPr wrap="square" lIns="0" tIns="0" rIns="0" bIns="0" rtlCol="0" anchor="t"/>
          <a:lstStyle/>
          <a:p>
            <a:pPr algn="l" indent="0" marL="0">
              <a:lnSpc>
                <a:spcPct val="130000"/>
              </a:lnSpc>
              <a:buNone/>
            </a:pPr>
            <a:r>
              <a:rPr lang="en-US" sz="1300" dirty="0">
                <a:solidFill>
                  <a:srgbClr val="FFFFFF"/>
                </a:solidFill>
                <a:latin typeface="Calibri" pitchFamily="34" charset="0"/>
                <a:ea typeface="Calibri" pitchFamily="34" charset="-122"/>
                <a:cs typeface="Calibri" pitchFamily="34" charset="-120"/>
              </a:rPr>
              <a:t>Performance metrics indicate significant improvements in responsiveness and fuel efficiency, showcasing the advantages of hybrid configurations in real-world applications.
</a:t>
            </a:r>
            <a:endParaRPr lang="en-US" sz="1300" dirty="0"/>
          </a:p>
        </p:txBody>
      </p:sp>
      <p:sp>
        <p:nvSpPr>
          <p:cNvPr id="13" name="Text 10"/>
          <p:cNvSpPr/>
          <p:nvPr/>
        </p:nvSpPr>
        <p:spPr>
          <a:xfrm>
            <a:off x="10362895" y="6537960"/>
            <a:ext cx="1691640" cy="256032"/>
          </a:xfrm>
          <a:prstGeom prst="rect">
            <a:avLst/>
          </a:prstGeom>
          <a:solidFill>
            <a:srgbClr val="000000">
              <a:alpha val="45000"/>
            </a:srgbClr>
          </a:solidFill>
          <a:ln/>
        </p:spPr>
        <p:txBody>
          <a:bodyPr wrap="square" rtlCol="0" anchor="ctr"/>
          <a:lstStyle/>
          <a:p>
            <a:pPr algn="ctr" indent="0" marL="0">
              <a:buNone/>
            </a:pPr>
            <a:r>
              <a:rPr lang="en-US" sz="800" dirty="0">
                <a:solidFill>
                  <a:srgbClr val="FFFFFF"/>
                </a:solidFill>
                <a:latin typeface="Calibri" pitchFamily="34" charset="0"/>
                <a:ea typeface="Calibri" pitchFamily="34" charset="-122"/>
                <a:cs typeface="Calibri" pitchFamily="34" charset="-120"/>
              </a:rPr>
              <a:t>Made with SlideMaker.app</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D0D1A"/>
        </a:solidFill>
      </p:bgPr>
    </p:bg>
    <p:spTree>
      <p:nvGrpSpPr>
        <p:cNvPr id="1" name=""/>
        <p:cNvGrpSpPr/>
        <p:nvPr/>
      </p:nvGrpSpPr>
      <p:grpSpPr>
        <a:xfrm>
          <a:off x="0" y="0"/>
          <a:ext cx="0" cy="0"/>
          <a:chOff x="0" y="0"/>
          <a:chExt cx="0" cy="0"/>
        </a:xfrm>
      </p:grpSpPr>
      <p:sp>
        <p:nvSpPr>
          <p:cNvPr id="2" name="Text 0"/>
          <p:cNvSpPr/>
          <p:nvPr/>
        </p:nvSpPr>
        <p:spPr>
          <a:xfrm>
            <a:off x="761981" y="507987"/>
            <a:ext cx="10667733" cy="761981"/>
          </a:xfrm>
          <a:prstGeom prst="rect">
            <a:avLst/>
          </a:prstGeom>
          <a:noFill/>
          <a:ln/>
        </p:spPr>
        <p:txBody>
          <a:bodyPr wrap="square" lIns="0" tIns="0" rIns="0" bIns="0" rtlCol="0" anchor="t"/>
          <a:lstStyle/>
          <a:p>
            <a:pPr algn="ctr" indent="0" marL="0">
              <a:lnSpc>
                <a:spcPct val="120000"/>
              </a:lnSpc>
              <a:buNone/>
            </a:pPr>
            <a:r>
              <a:rPr lang="en-US" sz="2900" b="1" dirty="0">
                <a:solidFill>
                  <a:srgbClr val="00FFFF"/>
                </a:solidFill>
                <a:latin typeface="Calibri" pitchFamily="34" charset="0"/>
                <a:ea typeface="Calibri" pitchFamily="34" charset="-122"/>
                <a:cs typeface="Calibri" pitchFamily="34" charset="-120"/>
              </a:rPr>
              <a:t>Simulate Power Split and Fuel Consumption
</a:t>
            </a:r>
            <a:endParaRPr lang="en-US" sz="2900" dirty="0"/>
          </a:p>
        </p:txBody>
      </p:sp>
      <p:sp>
        <p:nvSpPr>
          <p:cNvPr id="3" name="Shape 1"/>
          <p:cNvSpPr/>
          <p:nvPr/>
        </p:nvSpPr>
        <p:spPr>
          <a:xfrm>
            <a:off x="761981" y="1633179"/>
            <a:ext cx="3276518" cy="3510321"/>
          </a:xfrm>
          <a:prstGeom prst="rect">
            <a:avLst/>
          </a:prstGeom>
          <a:noFill/>
          <a:ln/>
        </p:spPr>
      </p:sp>
      <p:sp>
        <p:nvSpPr>
          <p:cNvPr id="4" name="Text 2"/>
          <p:cNvSpPr/>
          <p:nvPr/>
        </p:nvSpPr>
        <p:spPr>
          <a:xfrm>
            <a:off x="3327317" y="1785575"/>
            <a:ext cx="609585" cy="444489"/>
          </a:xfrm>
          <a:prstGeom prst="rect">
            <a:avLst/>
          </a:prstGeom>
          <a:noFill/>
          <a:ln/>
        </p:spPr>
        <p:txBody>
          <a:bodyPr wrap="square" lIns="0" tIns="0" rIns="0" bIns="0" rtlCol="0" anchor="t"/>
          <a:lstStyle/>
          <a:p>
            <a:pPr algn="r" indent="0" marL="0">
              <a:lnSpc>
                <a:spcPct val="100000"/>
              </a:lnSpc>
              <a:buNone/>
            </a:pPr>
            <a:r>
              <a:rPr lang="en-US" sz="2500" dirty="0">
                <a:solidFill>
                  <a:srgbClr val="FFFFFF"/>
                </a:solidFill>
                <a:latin typeface="Calibri" pitchFamily="34" charset="0"/>
                <a:ea typeface="Calibri" pitchFamily="34" charset="-122"/>
                <a:cs typeface="Calibri" pitchFamily="34" charset="-120"/>
              </a:rPr>
              <a:t>1
</a:t>
            </a:r>
            <a:endParaRPr lang="en-US" sz="2500" dirty="0"/>
          </a:p>
        </p:txBody>
      </p:sp>
      <p:sp>
        <p:nvSpPr>
          <p:cNvPr id="5" name="Text 3"/>
          <p:cNvSpPr/>
          <p:nvPr/>
        </p:nvSpPr>
        <p:spPr>
          <a:xfrm>
            <a:off x="1066773" y="2458659"/>
            <a:ext cx="2666933" cy="1015975"/>
          </a:xfrm>
          <a:prstGeom prst="rect">
            <a:avLst/>
          </a:prstGeom>
          <a:noFill/>
          <a:ln/>
        </p:spPr>
        <p:txBody>
          <a:bodyPr wrap="square" lIns="0" tIns="0" rIns="0" bIns="0" rtlCol="0" anchor="t"/>
          <a:lstStyle/>
          <a:p>
            <a:pPr algn="l" indent="0" marL="0">
              <a:lnSpc>
                <a:spcPct val="125000"/>
              </a:lnSpc>
              <a:buNone/>
            </a:pPr>
            <a:r>
              <a:rPr lang="en-US" sz="1300" b="1" dirty="0">
                <a:solidFill>
                  <a:srgbClr val="FFFFFF"/>
                </a:solidFill>
                <a:latin typeface="Calibri" pitchFamily="34" charset="0"/>
                <a:ea typeface="Calibri" pitchFamily="34" charset="-122"/>
                <a:cs typeface="Calibri" pitchFamily="34" charset="-120"/>
              </a:rPr>
              <a:t>Simulink Simulation Overview
</a:t>
            </a:r>
            <a:endParaRPr lang="en-US" sz="1300" dirty="0"/>
          </a:p>
        </p:txBody>
      </p:sp>
      <p:sp>
        <p:nvSpPr>
          <p:cNvPr id="6" name="Text 4"/>
          <p:cNvSpPr/>
          <p:nvPr/>
        </p:nvSpPr>
        <p:spPr>
          <a:xfrm>
            <a:off x="1066773" y="3411135"/>
            <a:ext cx="2666933" cy="1996390"/>
          </a:xfrm>
          <a:prstGeom prst="rect">
            <a:avLst/>
          </a:prstGeom>
          <a:noFill/>
          <a:ln/>
        </p:spPr>
        <p:txBody>
          <a:bodyPr wrap="square" lIns="0" tIns="0" rIns="0" bIns="0" rtlCol="0" anchor="t"/>
          <a:lstStyle/>
          <a:p>
            <a:pPr algn="l" indent="0" marL="0">
              <a:lnSpc>
                <a:spcPct val="140000"/>
              </a:lnSpc>
              <a:buNone/>
            </a:pPr>
            <a:r>
              <a:rPr lang="en-US" sz="1300" dirty="0">
                <a:solidFill>
                  <a:srgbClr val="FFFFFF"/>
                </a:solidFill>
                <a:latin typeface="Calibri" pitchFamily="34" charset="0"/>
                <a:ea typeface="Calibri" pitchFamily="34" charset="-122"/>
                <a:cs typeface="Calibri" pitchFamily="34" charset="-120"/>
              </a:rPr>
              <a:t>A comprehensive Simulink simulation was conducted to analyze power distribution between the engine and motor, ensuring optimal performance under various driving conditions.
</a:t>
            </a:r>
            <a:endParaRPr lang="en-US" sz="1300" dirty="0"/>
          </a:p>
        </p:txBody>
      </p:sp>
      <p:sp>
        <p:nvSpPr>
          <p:cNvPr id="7" name="Shape 5"/>
          <p:cNvSpPr/>
          <p:nvPr/>
        </p:nvSpPr>
        <p:spPr>
          <a:xfrm>
            <a:off x="4457589" y="1633179"/>
            <a:ext cx="3276518" cy="3510321"/>
          </a:xfrm>
          <a:prstGeom prst="rect">
            <a:avLst/>
          </a:prstGeom>
          <a:noFill/>
          <a:ln/>
        </p:spPr>
      </p:sp>
      <p:sp>
        <p:nvSpPr>
          <p:cNvPr id="8" name="Text 6"/>
          <p:cNvSpPr/>
          <p:nvPr/>
        </p:nvSpPr>
        <p:spPr>
          <a:xfrm>
            <a:off x="7022924" y="1785575"/>
            <a:ext cx="609585" cy="444489"/>
          </a:xfrm>
          <a:prstGeom prst="rect">
            <a:avLst/>
          </a:prstGeom>
          <a:noFill/>
          <a:ln/>
        </p:spPr>
        <p:txBody>
          <a:bodyPr wrap="square" lIns="0" tIns="0" rIns="0" bIns="0" rtlCol="0" anchor="t"/>
          <a:lstStyle/>
          <a:p>
            <a:pPr algn="r" indent="0" marL="0">
              <a:lnSpc>
                <a:spcPct val="100000"/>
              </a:lnSpc>
              <a:buNone/>
            </a:pPr>
            <a:r>
              <a:rPr lang="en-US" sz="2500" dirty="0">
                <a:solidFill>
                  <a:srgbClr val="FFFFFF"/>
                </a:solidFill>
                <a:latin typeface="Calibri" pitchFamily="34" charset="0"/>
                <a:ea typeface="Calibri" pitchFamily="34" charset="-122"/>
                <a:cs typeface="Calibri" pitchFamily="34" charset="-120"/>
              </a:rPr>
              <a:t>2
</a:t>
            </a:r>
            <a:endParaRPr lang="en-US" sz="2500" dirty="0"/>
          </a:p>
        </p:txBody>
      </p:sp>
      <p:sp>
        <p:nvSpPr>
          <p:cNvPr id="9" name="Text 7"/>
          <p:cNvSpPr/>
          <p:nvPr/>
        </p:nvSpPr>
        <p:spPr>
          <a:xfrm>
            <a:off x="4762381" y="2458659"/>
            <a:ext cx="2666933" cy="1015975"/>
          </a:xfrm>
          <a:prstGeom prst="rect">
            <a:avLst/>
          </a:prstGeom>
          <a:noFill/>
          <a:ln/>
        </p:spPr>
        <p:txBody>
          <a:bodyPr wrap="square" lIns="0" tIns="0" rIns="0" bIns="0" rtlCol="0" anchor="t"/>
          <a:lstStyle/>
          <a:p>
            <a:pPr algn="l" indent="0" marL="0">
              <a:lnSpc>
                <a:spcPct val="125000"/>
              </a:lnSpc>
              <a:buNone/>
            </a:pPr>
            <a:r>
              <a:rPr lang="en-US" sz="1300" b="1" dirty="0">
                <a:solidFill>
                  <a:srgbClr val="FFFFFF"/>
                </a:solidFill>
                <a:latin typeface="Calibri" pitchFamily="34" charset="0"/>
                <a:ea typeface="Calibri" pitchFamily="34" charset="-122"/>
                <a:cs typeface="Calibri" pitchFamily="34" charset="-120"/>
              </a:rPr>
              <a:t>Parallel Power Distribution
</a:t>
            </a:r>
            <a:endParaRPr lang="en-US" sz="1300" dirty="0"/>
          </a:p>
        </p:txBody>
      </p:sp>
      <p:sp>
        <p:nvSpPr>
          <p:cNvPr id="10" name="Text 8"/>
          <p:cNvSpPr/>
          <p:nvPr/>
        </p:nvSpPr>
        <p:spPr>
          <a:xfrm>
            <a:off x="4762381" y="3411135"/>
            <a:ext cx="2666933" cy="1996390"/>
          </a:xfrm>
          <a:prstGeom prst="rect">
            <a:avLst/>
          </a:prstGeom>
          <a:noFill/>
          <a:ln/>
        </p:spPr>
        <p:txBody>
          <a:bodyPr wrap="square" lIns="0" tIns="0" rIns="0" bIns="0" rtlCol="0" anchor="t"/>
          <a:lstStyle/>
          <a:p>
            <a:pPr algn="l" indent="0" marL="0">
              <a:lnSpc>
                <a:spcPct val="140000"/>
              </a:lnSpc>
              <a:buNone/>
            </a:pPr>
            <a:r>
              <a:rPr lang="en-US" sz="1300" dirty="0">
                <a:solidFill>
                  <a:srgbClr val="FFFFFF"/>
                </a:solidFill>
                <a:latin typeface="Calibri" pitchFamily="34" charset="0"/>
                <a:ea typeface="Calibri" pitchFamily="34" charset="-122"/>
                <a:cs typeface="Calibri" pitchFamily="34" charset="-120"/>
              </a:rPr>
              <a:t>The parallel configuration allows simultaneous power delivery from both sources, enhancing overall system efficiency and reducing energy losses during operation.
</a:t>
            </a:r>
            <a:endParaRPr lang="en-US" sz="1300" dirty="0"/>
          </a:p>
        </p:txBody>
      </p:sp>
      <p:sp>
        <p:nvSpPr>
          <p:cNvPr id="11" name="Shape 9"/>
          <p:cNvSpPr/>
          <p:nvPr/>
        </p:nvSpPr>
        <p:spPr>
          <a:xfrm>
            <a:off x="8153196" y="1633179"/>
            <a:ext cx="990804" cy="3510321"/>
          </a:xfrm>
          <a:prstGeom prst="rect">
            <a:avLst/>
          </a:prstGeom>
          <a:noFill/>
          <a:ln/>
        </p:spPr>
      </p:sp>
      <p:sp>
        <p:nvSpPr>
          <p:cNvPr id="12" name="Text 10"/>
          <p:cNvSpPr/>
          <p:nvPr/>
        </p:nvSpPr>
        <p:spPr>
          <a:xfrm>
            <a:off x="10718532" y="1785575"/>
            <a:ext cx="609585" cy="444489"/>
          </a:xfrm>
          <a:prstGeom prst="rect">
            <a:avLst/>
          </a:prstGeom>
          <a:noFill/>
          <a:ln/>
        </p:spPr>
        <p:txBody>
          <a:bodyPr wrap="square" lIns="0" tIns="0" rIns="0" bIns="0" rtlCol="0" anchor="t"/>
          <a:lstStyle/>
          <a:p>
            <a:pPr algn="r" indent="0" marL="0">
              <a:lnSpc>
                <a:spcPct val="100000"/>
              </a:lnSpc>
              <a:buNone/>
            </a:pPr>
            <a:r>
              <a:rPr lang="en-US" sz="2500" dirty="0">
                <a:solidFill>
                  <a:srgbClr val="FFFFFF"/>
                </a:solidFill>
                <a:latin typeface="Calibri" pitchFamily="34" charset="0"/>
                <a:ea typeface="Calibri" pitchFamily="34" charset="-122"/>
                <a:cs typeface="Calibri" pitchFamily="34" charset="-120"/>
              </a:rPr>
              <a:t>3
</a:t>
            </a:r>
            <a:endParaRPr lang="en-US" sz="2500" dirty="0"/>
          </a:p>
        </p:txBody>
      </p:sp>
      <p:sp>
        <p:nvSpPr>
          <p:cNvPr id="13" name="Text 11"/>
          <p:cNvSpPr/>
          <p:nvPr/>
        </p:nvSpPr>
        <p:spPr>
          <a:xfrm>
            <a:off x="8457989" y="2458659"/>
            <a:ext cx="2666933" cy="1015975"/>
          </a:xfrm>
          <a:prstGeom prst="rect">
            <a:avLst/>
          </a:prstGeom>
          <a:noFill/>
          <a:ln/>
        </p:spPr>
        <p:txBody>
          <a:bodyPr wrap="square" lIns="0" tIns="0" rIns="0" bIns="0" rtlCol="0" anchor="t"/>
          <a:lstStyle/>
          <a:p>
            <a:pPr algn="l" indent="0" marL="0">
              <a:lnSpc>
                <a:spcPct val="125000"/>
              </a:lnSpc>
              <a:buNone/>
            </a:pPr>
            <a:r>
              <a:rPr lang="en-US" sz="1300" b="1" dirty="0">
                <a:solidFill>
                  <a:srgbClr val="FFFFFF"/>
                </a:solidFill>
                <a:latin typeface="Calibri" pitchFamily="34" charset="0"/>
                <a:ea typeface="Calibri" pitchFamily="34" charset="-122"/>
                <a:cs typeface="Calibri" pitchFamily="34" charset="-120"/>
              </a:rPr>
              <a:t>Fuel Consumption Analysis
</a:t>
            </a:r>
            <a:endParaRPr lang="en-US" sz="1300" dirty="0"/>
          </a:p>
        </p:txBody>
      </p:sp>
      <p:sp>
        <p:nvSpPr>
          <p:cNvPr id="14" name="Text 12"/>
          <p:cNvSpPr/>
          <p:nvPr/>
        </p:nvSpPr>
        <p:spPr>
          <a:xfrm>
            <a:off x="8457989" y="3411135"/>
            <a:ext cx="2666933" cy="2245304"/>
          </a:xfrm>
          <a:prstGeom prst="rect">
            <a:avLst/>
          </a:prstGeom>
          <a:noFill/>
          <a:ln/>
        </p:spPr>
        <p:txBody>
          <a:bodyPr wrap="square" lIns="0" tIns="0" rIns="0" bIns="0" rtlCol="0" anchor="t"/>
          <a:lstStyle/>
          <a:p>
            <a:pPr algn="l" indent="0" marL="0">
              <a:lnSpc>
                <a:spcPct val="140000"/>
              </a:lnSpc>
              <a:buNone/>
            </a:pPr>
            <a:r>
              <a:rPr lang="en-US" sz="1300" dirty="0">
                <a:solidFill>
                  <a:srgbClr val="FFFFFF"/>
                </a:solidFill>
                <a:latin typeface="Calibri" pitchFamily="34" charset="0"/>
                <a:ea typeface="Calibri" pitchFamily="34" charset="-122"/>
                <a:cs typeface="Calibri" pitchFamily="34" charset="-120"/>
              </a:rPr>
              <a:t>Efficient energy utilization from the hybrid system leads to a significant reduction in fuel consumption, validating the theoretical models and assumptions made during the design phase.
</a:t>
            </a:r>
            <a:endParaRPr lang="en-US" sz="1300" dirty="0"/>
          </a:p>
        </p:txBody>
      </p:sp>
      <p:sp>
        <p:nvSpPr>
          <p:cNvPr id="15" name="Text 13"/>
          <p:cNvSpPr/>
          <p:nvPr/>
        </p:nvSpPr>
        <p:spPr>
          <a:xfrm>
            <a:off x="10362895" y="6537960"/>
            <a:ext cx="1691640" cy="256032"/>
          </a:xfrm>
          <a:prstGeom prst="rect">
            <a:avLst/>
          </a:prstGeom>
          <a:solidFill>
            <a:srgbClr val="000000">
              <a:alpha val="45000"/>
            </a:srgbClr>
          </a:solidFill>
          <a:ln/>
        </p:spPr>
        <p:txBody>
          <a:bodyPr wrap="square" rtlCol="0" anchor="ctr"/>
          <a:lstStyle/>
          <a:p>
            <a:pPr algn="ctr" indent="0" marL="0">
              <a:buNone/>
            </a:pPr>
            <a:r>
              <a:rPr lang="en-US" sz="800" dirty="0">
                <a:solidFill>
                  <a:srgbClr val="FFFFFF"/>
                </a:solidFill>
                <a:latin typeface="Calibri" pitchFamily="34" charset="0"/>
                <a:ea typeface="Calibri" pitchFamily="34" charset="-122"/>
                <a:cs typeface="Calibri" pitchFamily="34" charset="-120"/>
              </a:rPr>
              <a:t>Made with SlideMaker.app</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D0D1A"/>
        </a:solidFill>
      </p:bgPr>
    </p:bg>
    <p:spTree>
      <p:nvGrpSpPr>
        <p:cNvPr id="1" name=""/>
        <p:cNvGrpSpPr/>
        <p:nvPr/>
      </p:nvGrpSpPr>
      <p:grpSpPr>
        <a:xfrm>
          <a:off x="0" y="0"/>
          <a:ext cx="0" cy="0"/>
          <a:chOff x="0" y="0"/>
          <a:chExt cx="0" cy="0"/>
        </a:xfrm>
      </p:grpSpPr>
      <p:sp>
        <p:nvSpPr>
          <p:cNvPr id="2" name="Text 0"/>
          <p:cNvSpPr/>
          <p:nvPr/>
        </p:nvSpPr>
        <p:spPr>
          <a:xfrm>
            <a:off x="761981" y="507987"/>
            <a:ext cx="10667733" cy="761981"/>
          </a:xfrm>
          <a:prstGeom prst="rect">
            <a:avLst/>
          </a:prstGeom>
          <a:noFill/>
          <a:ln/>
        </p:spPr>
        <p:txBody>
          <a:bodyPr wrap="square" lIns="0" tIns="0" rIns="0" bIns="0" rtlCol="0" anchor="t"/>
          <a:lstStyle/>
          <a:p>
            <a:pPr algn="ctr" indent="0" marL="0">
              <a:lnSpc>
                <a:spcPct val="120000"/>
              </a:lnSpc>
              <a:buNone/>
            </a:pPr>
            <a:r>
              <a:rPr lang="en-US" sz="2900" b="1" dirty="0">
                <a:solidFill>
                  <a:srgbClr val="00FFFF"/>
                </a:solidFill>
                <a:latin typeface="Calibri" pitchFamily="34" charset="0"/>
                <a:ea typeface="Calibri" pitchFamily="34" charset="-122"/>
                <a:cs typeface="Calibri" pitchFamily="34" charset="-120"/>
              </a:rPr>
              <a:t>Analyze Efficiency Under Different Loads
</a:t>
            </a:r>
            <a:endParaRPr lang="en-US" sz="2900" dirty="0"/>
          </a:p>
        </p:txBody>
      </p:sp>
      <p:sp>
        <p:nvSpPr>
          <p:cNvPr id="3" name="Text 1"/>
          <p:cNvSpPr/>
          <p:nvPr/>
        </p:nvSpPr>
        <p:spPr>
          <a:xfrm>
            <a:off x="761981" y="1747476"/>
            <a:ext cx="203195" cy="380990"/>
          </a:xfrm>
          <a:prstGeom prst="rect">
            <a:avLst/>
          </a:prstGeom>
          <a:noFill/>
          <a:ln/>
        </p:spPr>
        <p:txBody>
          <a:bodyPr wrap="square" lIns="0" tIns="0" rIns="0" bIns="0" rtlCol="0" anchor="t"/>
          <a:lstStyle/>
          <a:p>
            <a:pPr algn="l" indent="0" marL="0">
              <a:lnSpc>
                <a:spcPct val="130000"/>
              </a:lnSpc>
              <a:buNone/>
            </a:pPr>
            <a:r>
              <a:rPr lang="en-US" sz="1400" b="1" dirty="0">
                <a:solidFill>
                  <a:srgbClr val="FFFFFF"/>
                </a:solidFill>
                <a:latin typeface="Calibri" pitchFamily="34" charset="0"/>
                <a:ea typeface="Calibri" pitchFamily="34" charset="-122"/>
                <a:cs typeface="Calibri" pitchFamily="34" charset="-120"/>
              </a:rPr>
              <a:t>•
</a:t>
            </a:r>
            <a:endParaRPr lang="en-US" sz="1400" dirty="0"/>
          </a:p>
        </p:txBody>
      </p:sp>
      <p:sp>
        <p:nvSpPr>
          <p:cNvPr id="4" name="Text 2"/>
          <p:cNvSpPr/>
          <p:nvPr/>
        </p:nvSpPr>
        <p:spPr>
          <a:xfrm>
            <a:off x="1079473" y="1696678"/>
            <a:ext cx="10350241" cy="380990"/>
          </a:xfrm>
          <a:prstGeom prst="rect">
            <a:avLst/>
          </a:prstGeom>
          <a:noFill/>
          <a:ln/>
        </p:spPr>
        <p:txBody>
          <a:bodyPr wrap="square" lIns="0" tIns="0" rIns="0" bIns="0" rtlCol="0" anchor="t"/>
          <a:lstStyle/>
          <a:p>
            <a:pPr algn="l" indent="0" marL="0">
              <a:lnSpc>
                <a:spcPct val="120000"/>
              </a:lnSpc>
              <a:buNone/>
            </a:pPr>
            <a:r>
              <a:rPr lang="en-US" sz="1300" b="1" dirty="0">
                <a:solidFill>
                  <a:srgbClr val="FFD700"/>
                </a:solidFill>
                <a:latin typeface="Calibri" pitchFamily="34" charset="0"/>
                <a:ea typeface="Calibri" pitchFamily="34" charset="-122"/>
                <a:cs typeface="Calibri" pitchFamily="34" charset="-120"/>
              </a:rPr>
              <a:t>Motor Efficiency Considered
</a:t>
            </a:r>
            <a:endParaRPr lang="en-US" sz="1300" dirty="0"/>
          </a:p>
        </p:txBody>
      </p:sp>
      <p:sp>
        <p:nvSpPr>
          <p:cNvPr id="5" name="Text 3"/>
          <p:cNvSpPr/>
          <p:nvPr/>
        </p:nvSpPr>
        <p:spPr>
          <a:xfrm>
            <a:off x="1079473" y="2026869"/>
            <a:ext cx="10350241" cy="1066773"/>
          </a:xfrm>
          <a:prstGeom prst="rect">
            <a:avLst/>
          </a:prstGeom>
          <a:noFill/>
          <a:ln/>
        </p:spPr>
        <p:txBody>
          <a:bodyPr wrap="square" lIns="0" tIns="0" rIns="0" bIns="0" rtlCol="0" anchor="t"/>
          <a:lstStyle/>
          <a:p>
            <a:pPr algn="l" indent="0" marL="0">
              <a:lnSpc>
                <a:spcPct val="150000"/>
              </a:lnSpc>
              <a:buNone/>
            </a:pPr>
            <a:r>
              <a:rPr lang="en-US" sz="1300" dirty="0">
                <a:solidFill>
                  <a:srgbClr val="E0E0E0"/>
                </a:solidFill>
                <a:latin typeface="Calibri" pitchFamily="34" charset="0"/>
                <a:ea typeface="Calibri" pitchFamily="34" charset="-122"/>
                <a:cs typeface="Calibri" pitchFamily="34" charset="-120"/>
              </a:rPr>
              <a:t>Motor efficiency was maintained at 90% during the analysis, ensuring accurate performance metrics across various load conditions for the hybrid vehicle.
</a:t>
            </a:r>
            <a:endParaRPr lang="en-US" sz="1300" dirty="0"/>
          </a:p>
        </p:txBody>
      </p:sp>
      <p:sp>
        <p:nvSpPr>
          <p:cNvPr id="6" name="Text 4"/>
          <p:cNvSpPr/>
          <p:nvPr/>
        </p:nvSpPr>
        <p:spPr>
          <a:xfrm>
            <a:off x="761981" y="2898068"/>
            <a:ext cx="203195" cy="380990"/>
          </a:xfrm>
          <a:prstGeom prst="rect">
            <a:avLst/>
          </a:prstGeom>
          <a:noFill/>
          <a:ln/>
        </p:spPr>
        <p:txBody>
          <a:bodyPr wrap="square" lIns="0" tIns="0" rIns="0" bIns="0" rtlCol="0" anchor="t"/>
          <a:lstStyle/>
          <a:p>
            <a:pPr algn="l" indent="0" marL="0">
              <a:lnSpc>
                <a:spcPct val="130000"/>
              </a:lnSpc>
              <a:buNone/>
            </a:pPr>
            <a:r>
              <a:rPr lang="en-US" sz="1400" b="1" dirty="0">
                <a:solidFill>
                  <a:srgbClr val="FFFFFF"/>
                </a:solidFill>
                <a:latin typeface="Calibri" pitchFamily="34" charset="0"/>
                <a:ea typeface="Calibri" pitchFamily="34" charset="-122"/>
                <a:cs typeface="Calibri" pitchFamily="34" charset="-120"/>
              </a:rPr>
              <a:t>•
</a:t>
            </a:r>
            <a:endParaRPr lang="en-US" sz="1400" dirty="0"/>
          </a:p>
        </p:txBody>
      </p:sp>
      <p:sp>
        <p:nvSpPr>
          <p:cNvPr id="7" name="Text 5"/>
          <p:cNvSpPr/>
          <p:nvPr/>
        </p:nvSpPr>
        <p:spPr>
          <a:xfrm>
            <a:off x="1079473" y="2847269"/>
            <a:ext cx="10350241" cy="380990"/>
          </a:xfrm>
          <a:prstGeom prst="rect">
            <a:avLst/>
          </a:prstGeom>
          <a:noFill/>
          <a:ln/>
        </p:spPr>
        <p:txBody>
          <a:bodyPr wrap="square" lIns="0" tIns="0" rIns="0" bIns="0" rtlCol="0" anchor="t"/>
          <a:lstStyle/>
          <a:p>
            <a:pPr algn="l" indent="0" marL="0">
              <a:lnSpc>
                <a:spcPct val="120000"/>
              </a:lnSpc>
              <a:buNone/>
            </a:pPr>
            <a:r>
              <a:rPr lang="en-US" sz="1300" b="1" dirty="0">
                <a:solidFill>
                  <a:srgbClr val="FFD700"/>
                </a:solidFill>
                <a:latin typeface="Calibri" pitchFamily="34" charset="0"/>
                <a:ea typeface="Calibri" pitchFamily="34" charset="-122"/>
                <a:cs typeface="Calibri" pitchFamily="34" charset="-120"/>
              </a:rPr>
              <a:t>Performance Evaluation
</a:t>
            </a:r>
            <a:endParaRPr lang="en-US" sz="1300" dirty="0"/>
          </a:p>
        </p:txBody>
      </p:sp>
      <p:sp>
        <p:nvSpPr>
          <p:cNvPr id="8" name="Text 6"/>
          <p:cNvSpPr/>
          <p:nvPr/>
        </p:nvSpPr>
        <p:spPr>
          <a:xfrm>
            <a:off x="1079473" y="3177461"/>
            <a:ext cx="10350241" cy="1066773"/>
          </a:xfrm>
          <a:prstGeom prst="rect">
            <a:avLst/>
          </a:prstGeom>
          <a:noFill/>
          <a:ln/>
        </p:spPr>
        <p:txBody>
          <a:bodyPr wrap="square" lIns="0" tIns="0" rIns="0" bIns="0" rtlCol="0" anchor="t"/>
          <a:lstStyle/>
          <a:p>
            <a:pPr algn="l" indent="0" marL="0">
              <a:lnSpc>
                <a:spcPct val="150000"/>
              </a:lnSpc>
              <a:buNone/>
            </a:pPr>
            <a:r>
              <a:rPr lang="en-US" sz="1300" dirty="0">
                <a:solidFill>
                  <a:srgbClr val="E0E0E0"/>
                </a:solidFill>
                <a:latin typeface="Calibri" pitchFamily="34" charset="0"/>
                <a:ea typeface="Calibri" pitchFamily="34" charset="-122"/>
                <a:cs typeface="Calibri" pitchFamily="34" charset="-120"/>
              </a:rPr>
              <a:t>The performance of the HEV was evaluated under different operating conditions, revealing how load variations impact overall efficiency and fuel consumption.
</a:t>
            </a:r>
            <a:endParaRPr lang="en-US" sz="1300" dirty="0"/>
          </a:p>
        </p:txBody>
      </p:sp>
      <p:sp>
        <p:nvSpPr>
          <p:cNvPr id="9" name="Text 7"/>
          <p:cNvSpPr/>
          <p:nvPr/>
        </p:nvSpPr>
        <p:spPr>
          <a:xfrm>
            <a:off x="761981" y="4048659"/>
            <a:ext cx="203195" cy="380990"/>
          </a:xfrm>
          <a:prstGeom prst="rect">
            <a:avLst/>
          </a:prstGeom>
          <a:noFill/>
          <a:ln/>
        </p:spPr>
        <p:txBody>
          <a:bodyPr wrap="square" lIns="0" tIns="0" rIns="0" bIns="0" rtlCol="0" anchor="t"/>
          <a:lstStyle/>
          <a:p>
            <a:pPr algn="l" indent="0" marL="0">
              <a:lnSpc>
                <a:spcPct val="130000"/>
              </a:lnSpc>
              <a:buNone/>
            </a:pPr>
            <a:r>
              <a:rPr lang="en-US" sz="1400" b="1" dirty="0">
                <a:solidFill>
                  <a:srgbClr val="FFFFFF"/>
                </a:solidFill>
                <a:latin typeface="Calibri" pitchFamily="34" charset="0"/>
                <a:ea typeface="Calibri" pitchFamily="34" charset="-122"/>
                <a:cs typeface="Calibri" pitchFamily="34" charset="-120"/>
              </a:rPr>
              <a:t>•
</a:t>
            </a:r>
            <a:endParaRPr lang="en-US" sz="1400" dirty="0"/>
          </a:p>
        </p:txBody>
      </p:sp>
      <p:sp>
        <p:nvSpPr>
          <p:cNvPr id="10" name="Text 8"/>
          <p:cNvSpPr/>
          <p:nvPr/>
        </p:nvSpPr>
        <p:spPr>
          <a:xfrm>
            <a:off x="1079473" y="3997860"/>
            <a:ext cx="10350241" cy="380990"/>
          </a:xfrm>
          <a:prstGeom prst="rect">
            <a:avLst/>
          </a:prstGeom>
          <a:noFill/>
          <a:ln/>
        </p:spPr>
        <p:txBody>
          <a:bodyPr wrap="square" lIns="0" tIns="0" rIns="0" bIns="0" rtlCol="0" anchor="t"/>
          <a:lstStyle/>
          <a:p>
            <a:pPr algn="l" indent="0" marL="0">
              <a:lnSpc>
                <a:spcPct val="120000"/>
              </a:lnSpc>
              <a:buNone/>
            </a:pPr>
            <a:r>
              <a:rPr lang="en-US" sz="1300" b="1" dirty="0">
                <a:solidFill>
                  <a:srgbClr val="FFD700"/>
                </a:solidFill>
                <a:latin typeface="Calibri" pitchFamily="34" charset="0"/>
                <a:ea typeface="Calibri" pitchFamily="34" charset="-122"/>
                <a:cs typeface="Calibri" pitchFamily="34" charset="-120"/>
              </a:rPr>
              <a:t>Fuel Economy Optimization
</a:t>
            </a:r>
            <a:endParaRPr lang="en-US" sz="1300" dirty="0"/>
          </a:p>
        </p:txBody>
      </p:sp>
      <p:sp>
        <p:nvSpPr>
          <p:cNvPr id="11" name="Text 9"/>
          <p:cNvSpPr/>
          <p:nvPr/>
        </p:nvSpPr>
        <p:spPr>
          <a:xfrm>
            <a:off x="1079473" y="4328052"/>
            <a:ext cx="10350241" cy="1066773"/>
          </a:xfrm>
          <a:prstGeom prst="rect">
            <a:avLst/>
          </a:prstGeom>
          <a:noFill/>
          <a:ln/>
        </p:spPr>
        <p:txBody>
          <a:bodyPr wrap="square" lIns="0" tIns="0" rIns="0" bIns="0" rtlCol="0" anchor="t"/>
          <a:lstStyle/>
          <a:p>
            <a:pPr algn="l" indent="0" marL="0">
              <a:lnSpc>
                <a:spcPct val="150000"/>
              </a:lnSpc>
              <a:buNone/>
            </a:pPr>
            <a:r>
              <a:rPr lang="en-US" sz="1300" dirty="0">
                <a:solidFill>
                  <a:srgbClr val="E0E0E0"/>
                </a:solidFill>
                <a:latin typeface="Calibri" pitchFamily="34" charset="0"/>
                <a:ea typeface="Calibri" pitchFamily="34" charset="-122"/>
                <a:cs typeface="Calibri" pitchFamily="34" charset="-120"/>
              </a:rPr>
              <a:t>Through optimization techniques, better fuel economy was achieved, demonstrating the importance of efficient power distribution in hybrid electric vehicles.
</a:t>
            </a:r>
            <a:endParaRPr lang="en-US" sz="1300" dirty="0"/>
          </a:p>
        </p:txBody>
      </p:sp>
      <p:sp>
        <p:nvSpPr>
          <p:cNvPr id="12" name="Text 10"/>
          <p:cNvSpPr/>
          <p:nvPr/>
        </p:nvSpPr>
        <p:spPr>
          <a:xfrm>
            <a:off x="761981" y="5199250"/>
            <a:ext cx="203195" cy="380990"/>
          </a:xfrm>
          <a:prstGeom prst="rect">
            <a:avLst/>
          </a:prstGeom>
          <a:noFill/>
          <a:ln/>
        </p:spPr>
        <p:txBody>
          <a:bodyPr wrap="square" lIns="0" tIns="0" rIns="0" bIns="0" rtlCol="0" anchor="t"/>
          <a:lstStyle/>
          <a:p>
            <a:pPr algn="l" indent="0" marL="0">
              <a:lnSpc>
                <a:spcPct val="130000"/>
              </a:lnSpc>
              <a:buNone/>
            </a:pPr>
            <a:r>
              <a:rPr lang="en-US" sz="1400" b="1" dirty="0">
                <a:solidFill>
                  <a:srgbClr val="FFFFFF"/>
                </a:solidFill>
                <a:latin typeface="Calibri" pitchFamily="34" charset="0"/>
                <a:ea typeface="Calibri" pitchFamily="34" charset="-122"/>
                <a:cs typeface="Calibri" pitchFamily="34" charset="-120"/>
              </a:rPr>
              <a:t>•
</a:t>
            </a:r>
            <a:endParaRPr lang="en-US" sz="1400" dirty="0"/>
          </a:p>
        </p:txBody>
      </p:sp>
      <p:sp>
        <p:nvSpPr>
          <p:cNvPr id="13" name="Text 11"/>
          <p:cNvSpPr/>
          <p:nvPr/>
        </p:nvSpPr>
        <p:spPr>
          <a:xfrm>
            <a:off x="1079473" y="5148451"/>
            <a:ext cx="10350241" cy="380990"/>
          </a:xfrm>
          <a:prstGeom prst="rect">
            <a:avLst/>
          </a:prstGeom>
          <a:noFill/>
          <a:ln/>
        </p:spPr>
        <p:txBody>
          <a:bodyPr wrap="square" lIns="0" tIns="0" rIns="0" bIns="0" rtlCol="0" anchor="t"/>
          <a:lstStyle/>
          <a:p>
            <a:pPr algn="l" indent="0" marL="0">
              <a:lnSpc>
                <a:spcPct val="120000"/>
              </a:lnSpc>
              <a:buNone/>
            </a:pPr>
            <a:r>
              <a:rPr lang="en-US" sz="1300" b="1" dirty="0">
                <a:solidFill>
                  <a:srgbClr val="FFD700"/>
                </a:solidFill>
                <a:latin typeface="Calibri" pitchFamily="34" charset="0"/>
                <a:ea typeface="Calibri" pitchFamily="34" charset="-122"/>
                <a:cs typeface="Calibri" pitchFamily="34" charset="-120"/>
              </a:rPr>
              <a:t>Load Impact Insights
</a:t>
            </a:r>
            <a:endParaRPr lang="en-US" sz="1300" dirty="0"/>
          </a:p>
        </p:txBody>
      </p:sp>
      <p:sp>
        <p:nvSpPr>
          <p:cNvPr id="14" name="Text 12"/>
          <p:cNvSpPr/>
          <p:nvPr/>
        </p:nvSpPr>
        <p:spPr>
          <a:xfrm>
            <a:off x="1079473" y="5478643"/>
            <a:ext cx="10350241" cy="800080"/>
          </a:xfrm>
          <a:prstGeom prst="rect">
            <a:avLst/>
          </a:prstGeom>
          <a:noFill/>
          <a:ln/>
        </p:spPr>
        <p:txBody>
          <a:bodyPr wrap="square" lIns="0" tIns="0" rIns="0" bIns="0" rtlCol="0" anchor="t"/>
          <a:lstStyle/>
          <a:p>
            <a:pPr algn="l" indent="0" marL="0">
              <a:lnSpc>
                <a:spcPct val="150000"/>
              </a:lnSpc>
              <a:buNone/>
            </a:pPr>
            <a:r>
              <a:rPr lang="en-US" sz="1300" dirty="0">
                <a:solidFill>
                  <a:srgbClr val="E0E0E0"/>
                </a:solidFill>
                <a:latin typeface="Calibri" pitchFamily="34" charset="0"/>
                <a:ea typeface="Calibri" pitchFamily="34" charset="-122"/>
                <a:cs typeface="Calibri" pitchFamily="34" charset="-120"/>
              </a:rPr>
              <a:t>Insights gained from the analysis highlight how varying loads affect the overall efficiency, guiding future improvements in hybrid vehicle design.
</a:t>
            </a:r>
            <a:endParaRPr lang="en-US" sz="1300" dirty="0"/>
          </a:p>
        </p:txBody>
      </p:sp>
      <p:sp>
        <p:nvSpPr>
          <p:cNvPr id="15" name="Text 13"/>
          <p:cNvSpPr/>
          <p:nvPr/>
        </p:nvSpPr>
        <p:spPr>
          <a:xfrm>
            <a:off x="10362895" y="6537960"/>
            <a:ext cx="1691640" cy="256032"/>
          </a:xfrm>
          <a:prstGeom prst="rect">
            <a:avLst/>
          </a:prstGeom>
          <a:solidFill>
            <a:srgbClr val="000000">
              <a:alpha val="45000"/>
            </a:srgbClr>
          </a:solidFill>
          <a:ln/>
        </p:spPr>
        <p:txBody>
          <a:bodyPr wrap="square" rtlCol="0" anchor="ctr"/>
          <a:lstStyle/>
          <a:p>
            <a:pPr algn="ctr" indent="0" marL="0">
              <a:buNone/>
            </a:pPr>
            <a:r>
              <a:rPr lang="en-US" sz="800" dirty="0">
                <a:solidFill>
                  <a:srgbClr val="FFFFFF"/>
                </a:solidFill>
                <a:latin typeface="Calibri" pitchFamily="34" charset="0"/>
                <a:ea typeface="Calibri" pitchFamily="34" charset="-122"/>
                <a:cs typeface="Calibri" pitchFamily="34" charset="-120"/>
              </a:rPr>
              <a:t>Made with SlideMaker.app</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D0D1A"/>
        </a:solidFill>
      </p:bgPr>
    </p:bg>
    <p:spTree>
      <p:nvGrpSpPr>
        <p:cNvPr id="1" name=""/>
        <p:cNvGrpSpPr/>
        <p:nvPr/>
      </p:nvGrpSpPr>
      <p:grpSpPr>
        <a:xfrm>
          <a:off x="0" y="0"/>
          <a:ext cx="0" cy="0"/>
          <a:chOff x="0" y="0"/>
          <a:chExt cx="0" cy="0"/>
        </a:xfrm>
      </p:grpSpPr>
      <p:sp>
        <p:nvSpPr>
          <p:cNvPr id="2" name="Text 0"/>
          <p:cNvSpPr/>
          <p:nvPr/>
        </p:nvSpPr>
        <p:spPr>
          <a:xfrm>
            <a:off x="1015975" y="2285943"/>
            <a:ext cx="10159746" cy="1015975"/>
          </a:xfrm>
          <a:prstGeom prst="rect">
            <a:avLst/>
          </a:prstGeom>
          <a:noFill/>
          <a:ln/>
        </p:spPr>
        <p:txBody>
          <a:bodyPr wrap="square" lIns="0" tIns="0" rIns="0" bIns="0" rtlCol="0" anchor="t"/>
          <a:lstStyle/>
          <a:p>
            <a:pPr algn="ctr" indent="0" marL="0">
              <a:lnSpc>
                <a:spcPct val="120000"/>
              </a:lnSpc>
              <a:buNone/>
            </a:pPr>
            <a:r>
              <a:rPr lang="en-US" sz="2900" b="1" dirty="0">
                <a:solidFill>
                  <a:srgbClr val="00FFFF"/>
                </a:solidFill>
                <a:latin typeface="Calibri" pitchFamily="34" charset="0"/>
                <a:ea typeface="Calibri" pitchFamily="34" charset="-122"/>
                <a:cs typeface="Calibri" pitchFamily="34" charset="-120"/>
              </a:rPr>
              <a:t>Conclusion
</a:t>
            </a:r>
            <a:endParaRPr lang="en-US" sz="2900" dirty="0"/>
          </a:p>
        </p:txBody>
      </p:sp>
      <p:sp>
        <p:nvSpPr>
          <p:cNvPr id="3" name="Text 1"/>
          <p:cNvSpPr/>
          <p:nvPr/>
        </p:nvSpPr>
        <p:spPr>
          <a:xfrm>
            <a:off x="1523962" y="3555911"/>
            <a:ext cx="9143771" cy="2666933"/>
          </a:xfrm>
          <a:prstGeom prst="rect">
            <a:avLst/>
          </a:prstGeom>
          <a:noFill/>
          <a:ln/>
        </p:spPr>
        <p:txBody>
          <a:bodyPr wrap="square" lIns="0" tIns="0" rIns="0" bIns="0" rtlCol="0" anchor="t"/>
          <a:lstStyle/>
          <a:p>
            <a:pPr algn="ctr" indent="0" marL="0">
              <a:lnSpc>
                <a:spcPct val="150000"/>
              </a:lnSpc>
              <a:buNone/>
            </a:pPr>
            <a:r>
              <a:rPr lang="en-US" sz="1300" dirty="0">
                <a:solidFill>
                  <a:srgbClr val="FFFFFF"/>
                </a:solidFill>
                <a:latin typeface="Calibri" pitchFamily="34" charset="0"/>
                <a:ea typeface="Calibri" pitchFamily="34" charset="-122"/>
                <a:cs typeface="Calibri" pitchFamily="34" charset="-120"/>
              </a:rPr>
              <a:t>The HEV power flow model effectively illustrates the synergy between the internal combustion engine and electric motor, achieving a total output of 140 kW. This simulation not only enhances understanding of hybrid vehicle dynamics but also highlights the potential for improved fuel efficiency. Future work should focus on real-world applications and further optimization of energy management strategies to maximize performance and sustainability in hybrid vehicles.
</a:t>
            </a:r>
            <a:endParaRPr lang="en-US" sz="1300" dirty="0"/>
          </a:p>
        </p:txBody>
      </p:sp>
      <p:sp>
        <p:nvSpPr>
          <p:cNvPr id="4" name="Text 2"/>
          <p:cNvSpPr/>
          <p:nvPr/>
        </p:nvSpPr>
        <p:spPr>
          <a:xfrm>
            <a:off x="10362895" y="6537960"/>
            <a:ext cx="1691640" cy="256032"/>
          </a:xfrm>
          <a:prstGeom prst="rect">
            <a:avLst/>
          </a:prstGeom>
          <a:solidFill>
            <a:srgbClr val="000000">
              <a:alpha val="45000"/>
            </a:srgbClr>
          </a:solidFill>
          <a:ln/>
        </p:spPr>
        <p:txBody>
          <a:bodyPr wrap="square" rtlCol="0" anchor="ctr"/>
          <a:lstStyle/>
          <a:p>
            <a:pPr algn="ctr" indent="0" marL="0">
              <a:buNone/>
            </a:pPr>
            <a:r>
              <a:rPr lang="en-US" sz="800" dirty="0">
                <a:solidFill>
                  <a:srgbClr val="FFFFFF"/>
                </a:solidFill>
                <a:latin typeface="Calibri" pitchFamily="34" charset="0"/>
                <a:ea typeface="Calibri" pitchFamily="34" charset="-122"/>
                <a:cs typeface="Calibri" pitchFamily="34" charset="-120"/>
              </a:rPr>
              <a:t>Made with SlideMaker.app</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2026-06-20T04:16:57Z</dcterms:created>
  <dcterms:modified xsi:type="dcterms:W3CDTF">2026-06-20T04:16:57Z</dcterms:modified>
</cp:coreProperties>
</file>